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6"/>
  </p:notesMasterIdLst>
  <p:handoutMasterIdLst>
    <p:handoutMasterId r:id="rId37"/>
  </p:handoutMasterIdLst>
  <p:sldIdLst>
    <p:sldId id="256" r:id="rId2"/>
    <p:sldId id="309" r:id="rId3"/>
    <p:sldId id="310" r:id="rId4"/>
    <p:sldId id="311" r:id="rId5"/>
    <p:sldId id="312" r:id="rId6"/>
    <p:sldId id="313" r:id="rId7"/>
    <p:sldId id="314"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24.11.2025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24.11.2025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24.11.2025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24.11.2025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24.11.2025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24.11.2025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learn.microsoft.com/en-us/sql/relational-databases/performance/execution-plans?view=sql-server-ver17" TargetMode="External"/><Relationship Id="rId3" Type="http://schemas.openxmlformats.org/officeDocument/2006/relationships/hyperlink" Target="https://learn.microsoft.com/en-us/sql/relational-databases/indexes/indexes?view=sql-server-ver16&amp;source=recommendations" TargetMode="External"/><Relationship Id="rId7" Type="http://schemas.openxmlformats.org/officeDocument/2006/relationships/hyperlink" Target="https://learn.microsoft.com/en-us/sql/t-sql/statements/create-index-transact-sql?view=sql-server-ver16" TargetMode="External"/><Relationship Id="rId2" Type="http://schemas.openxmlformats.org/officeDocument/2006/relationships/hyperlink" Target="https://learn.microsoft.com/en-us/sql/relational-databases/sql-server-index-design-guide?view=sql-server-ver16&amp;source=recommendations#General_Design"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create-nonclustered-indexes?view=sql-server-ver16" TargetMode="External"/><Relationship Id="rId5" Type="http://schemas.openxmlformats.org/officeDocument/2006/relationships/hyperlink" Target="https://learn.microsoft.com/en-us/sql/relational-databases/indexes/create-clustered-indexes?view=sql-server-ver16" TargetMode="External"/><Relationship Id="rId4" Type="http://schemas.openxmlformats.org/officeDocument/2006/relationships/hyperlink" Target="https://learn.microsoft.com/en-us/sql/relational-databases/indexes/heaps-tables-without-clustered-indexes?view=sql-server-ver16"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sql/relational-databases/performance/display-and-save-execution-plans?view=sql-server-ver17" TargetMode="External"/><Relationship Id="rId3" Type="http://schemas.openxmlformats.org/officeDocument/2006/relationships/hyperlink" Target="https://learn.microsoft.com/en-us/sql/relational-databases/indexes/create-filtered-indexes?view=sql-server-ver16" TargetMode="External"/><Relationship Id="rId7" Type="http://schemas.openxmlformats.org/officeDocument/2006/relationships/hyperlink" Target="https://learn.microsoft.com/en-us/sql/relational-databases/indexes/disable-indexes-and-constraints?view=sql-server-ver16" TargetMode="External"/><Relationship Id="rId2" Type="http://schemas.openxmlformats.org/officeDocument/2006/relationships/hyperlink" Target="https://learn.microsoft.com/en-us/sql/relational-databases/indexes/create-unique-indexes?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modify-an-index?view=sql-server-ver16" TargetMode="External"/><Relationship Id="rId5" Type="http://schemas.openxmlformats.org/officeDocument/2006/relationships/hyperlink" Target="https://learn.microsoft.com/en-us/sql/relational-databases/indexes/delete-an-index?view=sql-server-ver16" TargetMode="External"/><Relationship Id="rId4" Type="http://schemas.openxmlformats.org/officeDocument/2006/relationships/hyperlink" Target="https://learn.microsoft.com/en-us/sql/relational-databases/indexes/create-indexes-with-included-columns?view=sql-server-ver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ro-RO" dirty="0"/>
              <a:t>Indecși</a:t>
            </a:r>
          </a:p>
        </p:txBody>
      </p:sp>
      <p:sp>
        <p:nvSpPr>
          <p:cNvPr id="3" name="Subtitlu 2"/>
          <p:cNvSpPr>
            <a:spLocks noGrp="1"/>
          </p:cNvSpPr>
          <p:nvPr>
            <p:ph type="subTitle" idx="1"/>
          </p:nvPr>
        </p:nvSpPr>
        <p:spPr/>
        <p:txBody>
          <a:bodyPr rtlCol="0"/>
          <a:lstStyle/>
          <a:p>
            <a:pPr rtl="0"/>
            <a:r>
              <a:rPr lang="ro-RO" dirty="0"/>
              <a:t>Seminar 5</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ED9C-3C5C-1DCF-7D0C-2B7B270864E4}"/>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03EFB130-E4AD-F025-6129-D78602E8575F}"/>
              </a:ext>
            </a:extLst>
          </p:cNvPr>
          <p:cNvSpPr>
            <a:spLocks noGrp="1"/>
          </p:cNvSpPr>
          <p:nvPr>
            <p:ph idx="1"/>
          </p:nvPr>
        </p:nvSpPr>
        <p:spPr>
          <a:xfrm>
            <a:off x="1341119" y="1572768"/>
            <a:ext cx="10527607" cy="5020056"/>
          </a:xfrm>
        </p:spPr>
        <p:txBody>
          <a:bodyPr/>
          <a:lstStyle/>
          <a:p>
            <a:r>
              <a:rPr lang="ro-RO" dirty="0"/>
              <a:t>Pentru a putea executa o interogare, </a:t>
            </a:r>
            <a:r>
              <a:rPr lang="ro-RO" b="1" dirty="0"/>
              <a:t>SQL Server Database Engine </a:t>
            </a:r>
            <a:r>
              <a:rPr lang="ro-RO" dirty="0"/>
              <a:t>trebuie să analizeze interogarea pentru a determina o modalitate eficientă de a accesa datele necesare și de a le procesa</a:t>
            </a:r>
          </a:p>
          <a:p>
            <a:r>
              <a:rPr lang="ro-RO" dirty="0"/>
              <a:t>Această analiză este gestionată de o componentă numită </a:t>
            </a:r>
            <a:r>
              <a:rPr lang="ro-RO" b="1" dirty="0"/>
              <a:t>Query Optimizer</a:t>
            </a:r>
          </a:p>
          <a:p>
            <a:r>
              <a:rPr lang="ro-RO" dirty="0"/>
              <a:t>Datele de intrare pentru Query Optimizer constau în interogare, schema bazei de date (definițiile tabelului și ale indecșilor) și </a:t>
            </a:r>
            <a:r>
              <a:rPr lang="ro-RO" i="1" dirty="0"/>
              <a:t>database statistics </a:t>
            </a:r>
          </a:p>
          <a:p>
            <a:r>
              <a:rPr lang="ro-RO" dirty="0"/>
              <a:t>Query Optimizer construiește unul sau mai multe planuri de execuție, uneori denumite planuri de interogare (query plans) sau planuri de execuție (execution plans)</a:t>
            </a:r>
          </a:p>
          <a:p>
            <a:r>
              <a:rPr lang="ro-RO" dirty="0"/>
              <a:t>Query Optimizer alege un plan de interogare folosind un set de euristici pentru a echilibra timpul de compilare și optimalitatea planului cu scopul de a găsi un plan de execuție bun</a:t>
            </a:r>
          </a:p>
        </p:txBody>
      </p:sp>
    </p:spTree>
    <p:extLst>
      <p:ext uri="{BB962C8B-B14F-4D97-AF65-F5344CB8AC3E}">
        <p14:creationId xmlns:p14="http://schemas.microsoft.com/office/powerpoint/2010/main" val="4134313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91B3-F126-1A1E-6252-401B78FDAD30}"/>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F51E5D35-329D-E2FB-9EAB-69146DBC79CE}"/>
              </a:ext>
            </a:extLst>
          </p:cNvPr>
          <p:cNvSpPr>
            <a:spLocks noGrp="1"/>
          </p:cNvSpPr>
          <p:nvPr>
            <p:ph idx="1"/>
          </p:nvPr>
        </p:nvSpPr>
        <p:spPr>
          <a:xfrm>
            <a:off x="1341120" y="1572768"/>
            <a:ext cx="10638444" cy="5020056"/>
          </a:xfrm>
        </p:spPr>
        <p:txBody>
          <a:bodyPr/>
          <a:lstStyle/>
          <a:p>
            <a:r>
              <a:rPr lang="ro-RO" dirty="0"/>
              <a:t>Planurile de execuție afișează grafic metodele de recuperare a datelor alese de SQL Server Query Optimizer</a:t>
            </a:r>
          </a:p>
          <a:p>
            <a:r>
              <a:rPr lang="ro-RO" dirty="0"/>
              <a:t>Planurile de execuție reprezintă costul de execuție al anumitor instrucțiuni și interogări din SQL Server folosind pictograme în loc de reprezentarea tabelară produsă de instrucțiunile SET SHOWPLAN_ALL sau SET SHOWPLAN_TEXT</a:t>
            </a:r>
          </a:p>
          <a:p>
            <a:r>
              <a:rPr lang="ro-RO" dirty="0"/>
              <a:t>Această abordare grafică este utilă pentru înțelegerea caracteristicilor de performanță ale unei interogări</a:t>
            </a:r>
          </a:p>
          <a:p>
            <a:r>
              <a:rPr lang="ro-RO" dirty="0"/>
              <a:t>Deși SQL Server Query Optimizer produce un singur plan de execuție, există conceptul de </a:t>
            </a:r>
            <a:r>
              <a:rPr lang="ro-RO" b="1" dirty="0"/>
              <a:t>plan de execuție estimat</a:t>
            </a:r>
            <a:r>
              <a:rPr lang="ro-RO" dirty="0"/>
              <a:t>, </a:t>
            </a:r>
            <a:r>
              <a:rPr lang="ro-RO" b="1" dirty="0"/>
              <a:t>plan de execuție real </a:t>
            </a:r>
            <a:r>
              <a:rPr lang="ro-RO" dirty="0"/>
              <a:t>și </a:t>
            </a:r>
            <a:r>
              <a:rPr lang="ro-RO" b="1" dirty="0"/>
              <a:t>statistici live ale interogărilor</a:t>
            </a:r>
            <a:endParaRPr lang="ro-RO" dirty="0"/>
          </a:p>
        </p:txBody>
      </p:sp>
    </p:spTree>
    <p:extLst>
      <p:ext uri="{BB962C8B-B14F-4D97-AF65-F5344CB8AC3E}">
        <p14:creationId xmlns:p14="http://schemas.microsoft.com/office/powerpoint/2010/main" val="24331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0049-8D47-0582-42E4-C6F18894B0A8}"/>
              </a:ext>
            </a:extLst>
          </p:cNvPr>
          <p:cNvSpPr>
            <a:spLocks noGrp="1"/>
          </p:cNvSpPr>
          <p:nvPr>
            <p:ph type="title"/>
          </p:nvPr>
        </p:nvSpPr>
        <p:spPr>
          <a:xfrm>
            <a:off x="1341120" y="265176"/>
            <a:ext cx="10158153" cy="1088136"/>
          </a:xfrm>
        </p:spPr>
        <p:txBody>
          <a:bodyPr>
            <a:normAutofit fontScale="90000"/>
          </a:bodyPr>
          <a:lstStyle/>
          <a:p>
            <a:r>
              <a:rPr lang="ro-RO" dirty="0"/>
              <a:t>Plan de execuție estimat (estimated execution plan)</a:t>
            </a:r>
          </a:p>
        </p:txBody>
      </p:sp>
      <p:sp>
        <p:nvSpPr>
          <p:cNvPr id="3" name="Content Placeholder 2">
            <a:extLst>
              <a:ext uri="{FF2B5EF4-FFF2-40B4-BE49-F238E27FC236}">
                <a16:creationId xmlns:a16="http://schemas.microsoft.com/office/drawing/2014/main" id="{79FC2A86-D9C6-4A1B-6DB7-06FC370B9548}"/>
              </a:ext>
            </a:extLst>
          </p:cNvPr>
          <p:cNvSpPr>
            <a:spLocks noGrp="1"/>
          </p:cNvSpPr>
          <p:nvPr>
            <p:ph idx="1"/>
          </p:nvPr>
        </p:nvSpPr>
        <p:spPr>
          <a:xfrm>
            <a:off x="1341120" y="1572768"/>
            <a:ext cx="10499898" cy="4938868"/>
          </a:xfrm>
        </p:spPr>
        <p:txBody>
          <a:bodyPr/>
          <a:lstStyle/>
          <a:p>
            <a:r>
              <a:rPr lang="ro-RO" dirty="0"/>
              <a:t>Un </a:t>
            </a:r>
            <a:r>
              <a:rPr lang="ro-RO" b="1" dirty="0"/>
              <a:t>plan de execuție estimat </a:t>
            </a:r>
            <a:r>
              <a:rPr lang="ro-RO" dirty="0"/>
              <a:t>returnează planul compilat așa cum este produs de Query Optimizer, pe baza estimărilor</a:t>
            </a:r>
          </a:p>
          <a:p>
            <a:r>
              <a:rPr lang="ro-RO" dirty="0"/>
              <a:t>Acesta este planul de execuție stocat în </a:t>
            </a:r>
            <a:r>
              <a:rPr lang="ro-RO" i="1" dirty="0"/>
              <a:t>plan cache</a:t>
            </a:r>
          </a:p>
          <a:p>
            <a:r>
              <a:rPr lang="ro-RO" dirty="0"/>
              <a:t>Producerea planului de execuție estimat nu execută de fapt interogarea sau batch-ul și, prin urmare, nu conține nicio informație din timpul execuției, cum ar fi indicatori de utilizare reală a resurselor sau avertismente din timpul execuției </a:t>
            </a:r>
          </a:p>
          <a:p>
            <a:r>
              <a:rPr lang="ro-RO" dirty="0"/>
              <a:t>Pentru a afișa </a:t>
            </a:r>
            <a:r>
              <a:rPr lang="ro-RO" b="1" dirty="0"/>
              <a:t>planul de execuție estimat </a:t>
            </a:r>
            <a:r>
              <a:rPr lang="ro-RO" dirty="0"/>
              <a:t>în Microsoft SQL Server Management Studio, bifați căsuța </a:t>
            </a:r>
            <a:r>
              <a:rPr lang="ro-RO" b="1" dirty="0"/>
              <a:t>Display Estimated Execution Plan </a:t>
            </a:r>
            <a:r>
              <a:rPr lang="ro-RO" dirty="0"/>
              <a:t>sau apăsați combinația de taste </a:t>
            </a:r>
            <a:r>
              <a:rPr lang="ro-RO" b="1" dirty="0"/>
              <a:t>Ctrl + L</a:t>
            </a:r>
            <a:r>
              <a:rPr lang="ro-RO" dirty="0"/>
              <a:t>:</a:t>
            </a:r>
          </a:p>
          <a:p>
            <a:endParaRPr lang="ro-RO" dirty="0"/>
          </a:p>
        </p:txBody>
      </p:sp>
      <p:pic>
        <p:nvPicPr>
          <p:cNvPr id="5" name="Picture 4">
            <a:extLst>
              <a:ext uri="{FF2B5EF4-FFF2-40B4-BE49-F238E27FC236}">
                <a16:creationId xmlns:a16="http://schemas.microsoft.com/office/drawing/2014/main" id="{3DF9A9F3-1FE1-3D89-F9CA-6D81F3F7CC12}"/>
              </a:ext>
            </a:extLst>
          </p:cNvPr>
          <p:cNvPicPr>
            <a:picLocks noChangeAspect="1"/>
          </p:cNvPicPr>
          <p:nvPr/>
        </p:nvPicPr>
        <p:blipFill>
          <a:blip r:embed="rId2"/>
          <a:stretch>
            <a:fillRect/>
          </a:stretch>
        </p:blipFill>
        <p:spPr>
          <a:xfrm>
            <a:off x="1725756" y="4936415"/>
            <a:ext cx="3858755" cy="947149"/>
          </a:xfrm>
          <a:prstGeom prst="rect">
            <a:avLst/>
          </a:prstGeom>
        </p:spPr>
      </p:pic>
    </p:spTree>
    <p:extLst>
      <p:ext uri="{BB962C8B-B14F-4D97-AF65-F5344CB8AC3E}">
        <p14:creationId xmlns:p14="http://schemas.microsoft.com/office/powerpoint/2010/main" val="239113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29AE-D57E-C962-88B9-355D1DB90F1F}"/>
              </a:ext>
            </a:extLst>
          </p:cNvPr>
          <p:cNvSpPr>
            <a:spLocks noGrp="1"/>
          </p:cNvSpPr>
          <p:nvPr>
            <p:ph type="title"/>
          </p:nvPr>
        </p:nvSpPr>
        <p:spPr/>
        <p:txBody>
          <a:bodyPr>
            <a:normAutofit fontScale="90000"/>
          </a:bodyPr>
          <a:lstStyle/>
          <a:p>
            <a:r>
              <a:rPr lang="ro-RO" dirty="0"/>
              <a:t>Plan de execuție real (actual execution plan)</a:t>
            </a:r>
          </a:p>
        </p:txBody>
      </p:sp>
      <p:sp>
        <p:nvSpPr>
          <p:cNvPr id="3" name="Content Placeholder 2">
            <a:extLst>
              <a:ext uri="{FF2B5EF4-FFF2-40B4-BE49-F238E27FC236}">
                <a16:creationId xmlns:a16="http://schemas.microsoft.com/office/drawing/2014/main" id="{733F0BF8-DDBF-DC84-3A14-AE6843EC1743}"/>
              </a:ext>
            </a:extLst>
          </p:cNvPr>
          <p:cNvSpPr>
            <a:spLocks noGrp="1"/>
          </p:cNvSpPr>
          <p:nvPr>
            <p:ph idx="1"/>
          </p:nvPr>
        </p:nvSpPr>
        <p:spPr>
          <a:xfrm>
            <a:off x="1341119" y="1572768"/>
            <a:ext cx="10675390" cy="4680250"/>
          </a:xfrm>
        </p:spPr>
        <p:txBody>
          <a:bodyPr/>
          <a:lstStyle/>
          <a:p>
            <a:r>
              <a:rPr lang="ro-RO" dirty="0"/>
              <a:t>Un </a:t>
            </a:r>
            <a:r>
              <a:rPr lang="ro-RO" b="1" dirty="0"/>
              <a:t>plan de execuție real </a:t>
            </a:r>
            <a:r>
              <a:rPr lang="ro-RO" dirty="0"/>
              <a:t>returnează planul compilat plus contextul său de execuție</a:t>
            </a:r>
          </a:p>
          <a:p>
            <a:r>
              <a:rPr lang="ro-RO" dirty="0"/>
              <a:t>Acesta devine disponibil după finalizarea execuției interogării</a:t>
            </a:r>
          </a:p>
          <a:p>
            <a:r>
              <a:rPr lang="ro-RO" dirty="0"/>
              <a:t>Acest plan include informații reale din timpul execuției, cum ar fi avertismentele de execuție, iar în versiunile mai noi ale SQL Server Database Engine, timpul scurs și timpul CPU utilizat în timpul execuției</a:t>
            </a:r>
          </a:p>
          <a:p>
            <a:r>
              <a:rPr lang="ro-RO" dirty="0"/>
              <a:t>Pentru a afișa </a:t>
            </a:r>
            <a:r>
              <a:rPr lang="ro-RO" b="1" dirty="0"/>
              <a:t>planul de execuție real </a:t>
            </a:r>
            <a:r>
              <a:rPr lang="ro-RO" dirty="0"/>
              <a:t>în Microsoft SQL Server Management Studio, bifați căsuța </a:t>
            </a:r>
            <a:r>
              <a:rPr lang="ro-RO" b="1" dirty="0"/>
              <a:t>Include Actual Execution Plan </a:t>
            </a:r>
            <a:r>
              <a:rPr lang="ro-RO" dirty="0"/>
              <a:t>sau apăsați combinația de taste </a:t>
            </a:r>
            <a:r>
              <a:rPr lang="ro-RO" b="1" dirty="0"/>
              <a:t>Ctrl + M</a:t>
            </a:r>
            <a:r>
              <a:rPr lang="ro-RO" dirty="0"/>
              <a:t>:</a:t>
            </a:r>
          </a:p>
          <a:p>
            <a:endParaRPr lang="ro-RO" dirty="0"/>
          </a:p>
        </p:txBody>
      </p:sp>
      <p:pic>
        <p:nvPicPr>
          <p:cNvPr id="5" name="Picture 4">
            <a:extLst>
              <a:ext uri="{FF2B5EF4-FFF2-40B4-BE49-F238E27FC236}">
                <a16:creationId xmlns:a16="http://schemas.microsoft.com/office/drawing/2014/main" id="{FE47104F-595A-4D33-7DBF-5B5402A3433A}"/>
              </a:ext>
            </a:extLst>
          </p:cNvPr>
          <p:cNvPicPr>
            <a:picLocks noChangeAspect="1"/>
          </p:cNvPicPr>
          <p:nvPr/>
        </p:nvPicPr>
        <p:blipFill>
          <a:blip r:embed="rId2"/>
          <a:stretch>
            <a:fillRect/>
          </a:stretch>
        </p:blipFill>
        <p:spPr>
          <a:xfrm>
            <a:off x="1722437" y="4411241"/>
            <a:ext cx="3057525" cy="1104900"/>
          </a:xfrm>
          <a:prstGeom prst="rect">
            <a:avLst/>
          </a:prstGeom>
        </p:spPr>
      </p:pic>
    </p:spTree>
    <p:extLst>
      <p:ext uri="{BB962C8B-B14F-4D97-AF65-F5344CB8AC3E}">
        <p14:creationId xmlns:p14="http://schemas.microsoft.com/office/powerpoint/2010/main" val="30981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AF3D-506C-BD8A-1E6F-9DD716686650}"/>
              </a:ext>
            </a:extLst>
          </p:cNvPr>
          <p:cNvSpPr>
            <a:spLocks noGrp="1"/>
          </p:cNvSpPr>
          <p:nvPr>
            <p:ph type="title"/>
          </p:nvPr>
        </p:nvSpPr>
        <p:spPr>
          <a:xfrm>
            <a:off x="1341120" y="265176"/>
            <a:ext cx="10389062" cy="1088136"/>
          </a:xfrm>
        </p:spPr>
        <p:txBody>
          <a:bodyPr>
            <a:normAutofit fontScale="90000"/>
          </a:bodyPr>
          <a:lstStyle/>
          <a:p>
            <a:r>
              <a:rPr lang="ro-RO" dirty="0"/>
              <a:t>Statistici live ale interogărilor (live query statistics)</a:t>
            </a:r>
          </a:p>
        </p:txBody>
      </p:sp>
      <p:sp>
        <p:nvSpPr>
          <p:cNvPr id="3" name="Content Placeholder 2">
            <a:extLst>
              <a:ext uri="{FF2B5EF4-FFF2-40B4-BE49-F238E27FC236}">
                <a16:creationId xmlns:a16="http://schemas.microsoft.com/office/drawing/2014/main" id="{AAB73F6A-F97E-76E9-6115-A44FAE625D00}"/>
              </a:ext>
            </a:extLst>
          </p:cNvPr>
          <p:cNvSpPr>
            <a:spLocks noGrp="1"/>
          </p:cNvSpPr>
          <p:nvPr>
            <p:ph idx="1"/>
          </p:nvPr>
        </p:nvSpPr>
        <p:spPr>
          <a:xfrm>
            <a:off x="1341119" y="1572768"/>
            <a:ext cx="10536845" cy="5020056"/>
          </a:xfrm>
        </p:spPr>
        <p:txBody>
          <a:bodyPr/>
          <a:lstStyle/>
          <a:p>
            <a:r>
              <a:rPr lang="ro-RO" b="1" dirty="0"/>
              <a:t>Live Query Statistics </a:t>
            </a:r>
            <a:r>
              <a:rPr lang="ro-RO" dirty="0"/>
              <a:t>returnează planul compilat plus contextul său de execuție</a:t>
            </a:r>
          </a:p>
          <a:p>
            <a:r>
              <a:rPr lang="ro-RO" dirty="0"/>
              <a:t>Acest plan este disponibil pentru interogările aflate în execuție și este actualizat în fiecare secundă</a:t>
            </a:r>
          </a:p>
          <a:p>
            <a:r>
              <a:rPr lang="ro-RO" dirty="0"/>
              <a:t>Acestea includ informații din timpul execuției, cum ar fi numărul real de înregistrări care trec prin operatori, timpul scurs și progresul estimat al interogării</a:t>
            </a:r>
          </a:p>
          <a:p>
            <a:r>
              <a:rPr lang="ro-RO" dirty="0"/>
              <a:t>Această opțiune nu este disponibilă în Azure Data Studio</a:t>
            </a:r>
          </a:p>
          <a:p>
            <a:r>
              <a:rPr lang="ro-RO" dirty="0"/>
              <a:t>Pentru a afișa statistici live ale interogărilor în Microsoft SQL Server Management Studio, bifați căsuța </a:t>
            </a:r>
            <a:r>
              <a:rPr lang="ro-RO" b="1" dirty="0"/>
              <a:t>Include Live Query Statistics</a:t>
            </a:r>
            <a:r>
              <a:rPr lang="ro-RO" dirty="0"/>
              <a:t>: </a:t>
            </a:r>
          </a:p>
        </p:txBody>
      </p:sp>
      <p:pic>
        <p:nvPicPr>
          <p:cNvPr id="5" name="Picture 4">
            <a:extLst>
              <a:ext uri="{FF2B5EF4-FFF2-40B4-BE49-F238E27FC236}">
                <a16:creationId xmlns:a16="http://schemas.microsoft.com/office/drawing/2014/main" id="{E6B8D755-6DAE-2E66-4A68-D906403EFBCC}"/>
              </a:ext>
            </a:extLst>
          </p:cNvPr>
          <p:cNvPicPr>
            <a:picLocks noChangeAspect="1"/>
          </p:cNvPicPr>
          <p:nvPr/>
        </p:nvPicPr>
        <p:blipFill>
          <a:blip r:embed="rId2"/>
          <a:stretch>
            <a:fillRect/>
          </a:stretch>
        </p:blipFill>
        <p:spPr>
          <a:xfrm>
            <a:off x="1712192" y="4903366"/>
            <a:ext cx="2712028" cy="1005321"/>
          </a:xfrm>
          <a:prstGeom prst="rect">
            <a:avLst/>
          </a:prstGeom>
        </p:spPr>
      </p:pic>
    </p:spTree>
    <p:extLst>
      <p:ext uri="{BB962C8B-B14F-4D97-AF65-F5344CB8AC3E}">
        <p14:creationId xmlns:p14="http://schemas.microsoft.com/office/powerpoint/2010/main" val="2681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D173C-F0B3-3A62-4DEC-86F403269884}"/>
              </a:ext>
            </a:extLst>
          </p:cNvPr>
          <p:cNvSpPr>
            <a:spLocks noGrp="1"/>
          </p:cNvSpPr>
          <p:nvPr>
            <p:ph type="title"/>
          </p:nvPr>
        </p:nvSpPr>
        <p:spPr/>
        <p:txBody>
          <a:bodyPr/>
          <a:lstStyle/>
          <a:p>
            <a:r>
              <a:rPr lang="ro-RO" dirty="0"/>
              <a:t>Afișarea planului real de execuție</a:t>
            </a:r>
          </a:p>
        </p:txBody>
      </p:sp>
      <p:sp>
        <p:nvSpPr>
          <p:cNvPr id="3" name="Content Placeholder 2">
            <a:extLst>
              <a:ext uri="{FF2B5EF4-FFF2-40B4-BE49-F238E27FC236}">
                <a16:creationId xmlns:a16="http://schemas.microsoft.com/office/drawing/2014/main" id="{D27DBB31-1F07-E8BA-74CB-4167E17C46E3}"/>
              </a:ext>
            </a:extLst>
          </p:cNvPr>
          <p:cNvSpPr>
            <a:spLocks noGrp="1"/>
          </p:cNvSpPr>
          <p:nvPr>
            <p:ph idx="1"/>
          </p:nvPr>
        </p:nvSpPr>
        <p:spPr>
          <a:xfrm>
            <a:off x="1341120" y="1572767"/>
            <a:ext cx="10647680" cy="4858177"/>
          </a:xfrm>
        </p:spPr>
        <p:txBody>
          <a:bodyPr/>
          <a:lstStyle/>
          <a:p>
            <a:r>
              <a:rPr lang="ro-RO" dirty="0"/>
              <a:t>Pentru a verifica planul de execuție real al unei interogări, ne asigurăm că este activată căsuța </a:t>
            </a:r>
            <a:r>
              <a:rPr lang="ro-RO" b="1" dirty="0"/>
              <a:t>Include Actual Execution Plan, </a:t>
            </a:r>
            <a:r>
              <a:rPr lang="ro-RO" dirty="0"/>
              <a:t>iar apoi vom executa interogarea: </a:t>
            </a:r>
          </a:p>
        </p:txBody>
      </p:sp>
      <p:pic>
        <p:nvPicPr>
          <p:cNvPr id="5" name="Picture 4">
            <a:extLst>
              <a:ext uri="{FF2B5EF4-FFF2-40B4-BE49-F238E27FC236}">
                <a16:creationId xmlns:a16="http://schemas.microsoft.com/office/drawing/2014/main" id="{FE21763C-6A1A-90A4-663E-874A45CE2F50}"/>
              </a:ext>
            </a:extLst>
          </p:cNvPr>
          <p:cNvPicPr>
            <a:picLocks noChangeAspect="1"/>
          </p:cNvPicPr>
          <p:nvPr/>
        </p:nvPicPr>
        <p:blipFill>
          <a:blip r:embed="rId2"/>
          <a:stretch>
            <a:fillRect/>
          </a:stretch>
        </p:blipFill>
        <p:spPr>
          <a:xfrm>
            <a:off x="1730776" y="2334933"/>
            <a:ext cx="5514975" cy="3152775"/>
          </a:xfrm>
          <a:prstGeom prst="rect">
            <a:avLst/>
          </a:prstGeom>
        </p:spPr>
      </p:pic>
    </p:spTree>
    <p:extLst>
      <p:ext uri="{BB962C8B-B14F-4D97-AF65-F5344CB8AC3E}">
        <p14:creationId xmlns:p14="http://schemas.microsoft.com/office/powerpoint/2010/main" val="394513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341120" y="1572768"/>
            <a:ext cx="10261995" cy="4142232"/>
          </a:xfrm>
        </p:spPr>
        <p:txBody>
          <a:bodyPr/>
          <a:lstStyle/>
          <a:p>
            <a:r>
              <a:rPr lang="en-US" dirty="0"/>
              <a:t>Un index </a:t>
            </a:r>
            <a:r>
              <a:rPr lang="en-US" dirty="0" err="1"/>
              <a:t>este</a:t>
            </a:r>
            <a:r>
              <a:rPr lang="en-US" dirty="0"/>
              <a:t> o </a:t>
            </a:r>
            <a:r>
              <a:rPr lang="en-US" dirty="0" err="1"/>
              <a:t>structur</a:t>
            </a:r>
            <a:r>
              <a:rPr lang="ro-RO" dirty="0"/>
              <a:t>ă </a:t>
            </a:r>
            <a:r>
              <a:rPr lang="ro-RO" i="1" dirty="0"/>
              <a:t>on-disk</a:t>
            </a:r>
            <a:r>
              <a:rPr lang="ro-RO" dirty="0"/>
              <a:t> asociată unui tabel sau unui </a:t>
            </a:r>
            <a:r>
              <a:rPr lang="ro-RO" dirty="0" err="1"/>
              <a:t>view</a:t>
            </a:r>
            <a:r>
              <a:rPr lang="ro-RO" dirty="0"/>
              <a:t> care crește viteza de returnare a înregistrărilor</a:t>
            </a:r>
          </a:p>
          <a:p>
            <a:r>
              <a:rPr lang="ro-RO" dirty="0"/>
              <a:t>Alegerea corectă a indecșilor îmbunătățește performanța</a:t>
            </a:r>
          </a:p>
          <a:p>
            <a:r>
              <a:rPr lang="ro-RO" dirty="0"/>
              <a:t>Alegerea incorectă a indecșilor generează probleme de performanță</a:t>
            </a:r>
          </a:p>
          <a:p>
            <a:r>
              <a:rPr lang="ro-RO" dirty="0"/>
              <a:t>Indecșii sunt definiți pentru a localiza mai rapid înregistrările care urmează să fie returnate</a:t>
            </a:r>
          </a:p>
          <a:p>
            <a:r>
              <a:rPr lang="ro-RO" dirty="0"/>
              <a:t>Dacă </a:t>
            </a:r>
            <a:r>
              <a:rPr lang="ro-RO" b="1" dirty="0"/>
              <a:t>nu</a:t>
            </a:r>
            <a:r>
              <a:rPr lang="ro-RO" dirty="0"/>
              <a:t> este definit un index, SQL Server verifică fiecare înregistrare din tabel pentru a determina dacă ea conține sau nu informația necesară interogării (</a:t>
            </a:r>
            <a:r>
              <a:rPr lang="ro-RO" i="1" dirty="0"/>
              <a:t>table </a:t>
            </a:r>
            <a:r>
              <a:rPr lang="ro-RO" i="1" dirty="0" err="1"/>
              <a:t>scan</a:t>
            </a:r>
            <a:r>
              <a:rPr lang="ro-RO" dirty="0"/>
              <a:t>)</a:t>
            </a:r>
            <a:endParaRPr lang="en-US" dirty="0"/>
          </a:p>
          <a:p>
            <a:endParaRPr lang="en-US" dirty="0"/>
          </a:p>
        </p:txBody>
      </p:sp>
    </p:spTree>
    <p:extLst>
      <p:ext uri="{BB962C8B-B14F-4D97-AF65-F5344CB8AC3E}">
        <p14:creationId xmlns:p14="http://schemas.microsoft.com/office/powerpoint/2010/main" val="219473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406741" y="1524828"/>
            <a:ext cx="8770571" cy="3808343"/>
          </a:xfrm>
        </p:spPr>
        <p:txBody>
          <a:bodyPr/>
          <a:lstStyle/>
          <a:p>
            <a:r>
              <a:rPr lang="ro-RO" dirty="0"/>
              <a:t>Indecșii sunt organizați ca </a:t>
            </a:r>
            <a:r>
              <a:rPr lang="ro-RO" b="1" dirty="0"/>
              <a:t>B</a:t>
            </a:r>
            <a:r>
              <a:rPr lang="en-US" b="1" dirty="0"/>
              <a:t>+ </a:t>
            </a:r>
            <a:r>
              <a:rPr lang="ro-RO" b="1" dirty="0"/>
              <a:t>trees</a:t>
            </a:r>
            <a:endParaRPr lang="en-US" b="1" dirty="0"/>
          </a:p>
          <a:p>
            <a:endParaRPr lang="en-US" dirty="0"/>
          </a:p>
        </p:txBody>
      </p:sp>
      <p:pic>
        <p:nvPicPr>
          <p:cNvPr id="4" name="Picture 3"/>
          <p:cNvPicPr>
            <a:picLocks noChangeAspect="1"/>
          </p:cNvPicPr>
          <p:nvPr/>
        </p:nvPicPr>
        <p:blipFill>
          <a:blip r:embed="rId2"/>
          <a:stretch>
            <a:fillRect/>
          </a:stretch>
        </p:blipFill>
        <p:spPr>
          <a:xfrm>
            <a:off x="1777888" y="1959701"/>
            <a:ext cx="3644234" cy="3906882"/>
          </a:xfrm>
          <a:prstGeom prst="rect">
            <a:avLst/>
          </a:prstGeom>
        </p:spPr>
      </p:pic>
    </p:spTree>
    <p:extLst>
      <p:ext uri="{BB962C8B-B14F-4D97-AF65-F5344CB8AC3E}">
        <p14:creationId xmlns:p14="http://schemas.microsoft.com/office/powerpoint/2010/main" val="13935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Caracteristici ale indecșilor</a:t>
            </a:r>
            <a:endParaRPr lang="en-US" sz="3400" dirty="0"/>
          </a:p>
        </p:txBody>
      </p:sp>
      <p:sp>
        <p:nvSpPr>
          <p:cNvPr id="3" name="Content Placeholder 2"/>
          <p:cNvSpPr>
            <a:spLocks noGrp="1"/>
          </p:cNvSpPr>
          <p:nvPr>
            <p:ph idx="1"/>
          </p:nvPr>
        </p:nvSpPr>
        <p:spPr/>
        <p:txBody>
          <a:bodyPr/>
          <a:lstStyle/>
          <a:p>
            <a:r>
              <a:rPr lang="ro-RO" b="1" dirty="0"/>
              <a:t>Clustered</a:t>
            </a:r>
            <a:r>
              <a:rPr lang="ro-RO" dirty="0"/>
              <a:t> </a:t>
            </a:r>
            <a:r>
              <a:rPr lang="en-US" dirty="0"/>
              <a:t>/ </a:t>
            </a:r>
            <a:r>
              <a:rPr lang="ro-RO" b="1" dirty="0"/>
              <a:t>nonclustered</a:t>
            </a:r>
          </a:p>
          <a:p>
            <a:r>
              <a:rPr lang="ro-RO" b="1" dirty="0"/>
              <a:t>Unique</a:t>
            </a:r>
            <a:r>
              <a:rPr lang="ro-RO" dirty="0"/>
              <a:t> </a:t>
            </a:r>
            <a:r>
              <a:rPr lang="en-US" dirty="0"/>
              <a:t>/</a:t>
            </a:r>
            <a:r>
              <a:rPr lang="ro-RO" dirty="0"/>
              <a:t> </a:t>
            </a:r>
            <a:r>
              <a:rPr lang="ro-RO" b="1" dirty="0"/>
              <a:t>no</a:t>
            </a:r>
            <a:r>
              <a:rPr lang="en-US" b="1" dirty="0"/>
              <a:t>n-</a:t>
            </a:r>
            <a:r>
              <a:rPr lang="ro-RO" b="1" dirty="0"/>
              <a:t>unique</a:t>
            </a:r>
          </a:p>
          <a:p>
            <a:r>
              <a:rPr lang="ro-RO" b="1" dirty="0"/>
              <a:t>Single column </a:t>
            </a:r>
            <a:r>
              <a:rPr lang="en-US" dirty="0"/>
              <a:t>/ </a:t>
            </a:r>
            <a:r>
              <a:rPr lang="ro-RO" b="1" dirty="0"/>
              <a:t>multi</a:t>
            </a:r>
            <a:r>
              <a:rPr lang="en-US" b="1" dirty="0"/>
              <a:t>-</a:t>
            </a:r>
            <a:r>
              <a:rPr lang="ro-RO" b="1" dirty="0" err="1"/>
              <a:t>column</a:t>
            </a:r>
            <a:endParaRPr lang="ro-RO" b="1" dirty="0"/>
          </a:p>
          <a:p>
            <a:r>
              <a:rPr lang="ro-RO" dirty="0"/>
              <a:t>Ordine </a:t>
            </a:r>
            <a:r>
              <a:rPr lang="ro-RO" b="1" dirty="0"/>
              <a:t>crescătoare</a:t>
            </a:r>
            <a:r>
              <a:rPr lang="en-US" dirty="0"/>
              <a:t> / </a:t>
            </a:r>
            <a:r>
              <a:rPr lang="ro-RO" b="1" dirty="0"/>
              <a:t>descrescătoare</a:t>
            </a:r>
            <a:r>
              <a:rPr lang="ro-RO" dirty="0"/>
              <a:t> pe coloanele din index</a:t>
            </a:r>
          </a:p>
          <a:p>
            <a:r>
              <a:rPr lang="ro-RO" b="1" dirty="0"/>
              <a:t>Full-table</a:t>
            </a:r>
            <a:r>
              <a:rPr lang="en-US" dirty="0"/>
              <a:t> / </a:t>
            </a:r>
            <a:r>
              <a:rPr lang="ro-RO" b="1" dirty="0"/>
              <a:t>filtered</a:t>
            </a:r>
            <a:r>
              <a:rPr lang="ro-RO" dirty="0"/>
              <a:t> pentru indecșii </a:t>
            </a:r>
            <a:r>
              <a:rPr lang="ro-RO" b="1" dirty="0"/>
              <a:t>nonclustered</a:t>
            </a:r>
            <a:endParaRPr lang="en-US" b="1" dirty="0"/>
          </a:p>
          <a:p>
            <a:endParaRPr lang="en-US" dirty="0"/>
          </a:p>
        </p:txBody>
      </p:sp>
    </p:spTree>
    <p:extLst>
      <p:ext uri="{BB962C8B-B14F-4D97-AF65-F5344CB8AC3E}">
        <p14:creationId xmlns:p14="http://schemas.microsoft.com/office/powerpoint/2010/main" val="91576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39408"/>
            <a:ext cx="10448426" cy="4805779"/>
          </a:xfrm>
        </p:spPr>
        <p:txBody>
          <a:bodyPr>
            <a:normAutofit/>
          </a:bodyPr>
          <a:lstStyle/>
          <a:p>
            <a:r>
              <a:rPr lang="en-US" dirty="0">
                <a:solidFill>
                  <a:schemeClr val="accent1">
                    <a:lumMod val="75000"/>
                  </a:schemeClr>
                </a:solidFill>
              </a:rPr>
              <a:t>Index</a:t>
            </a:r>
            <a:r>
              <a:rPr lang="ro-RO" dirty="0">
                <a:solidFill>
                  <a:schemeClr val="accent1">
                    <a:lumMod val="75000"/>
                  </a:schemeClr>
                </a:solidFill>
              </a:rPr>
              <a:t>ul</a:t>
            </a:r>
            <a:r>
              <a:rPr lang="en-US" dirty="0">
                <a:solidFill>
                  <a:schemeClr val="accent1">
                    <a:lumMod val="75000"/>
                  </a:schemeClr>
                </a:solidFill>
              </a:rPr>
              <a:t> </a:t>
            </a:r>
            <a:r>
              <a:rPr lang="en-US" b="1" dirty="0"/>
              <a:t>c</a:t>
            </a:r>
            <a:r>
              <a:rPr lang="ro-RO" b="1" dirty="0"/>
              <a:t>lustered </a:t>
            </a:r>
            <a:r>
              <a:rPr lang="ro-RO" dirty="0"/>
              <a:t>definește ordinea fizică în care sunt stocate datele în tabel (dacă indexul </a:t>
            </a:r>
            <a:r>
              <a:rPr lang="ro-RO" b="1" dirty="0"/>
              <a:t>clustered</a:t>
            </a:r>
            <a:r>
              <a:rPr lang="ro-RO" dirty="0"/>
              <a:t> conține mai multe coloane, datele vor fi stocate în ordine secvențială în funcție de coloane: prima coloană, a doua coloană și așa mai departe)</a:t>
            </a:r>
          </a:p>
          <a:p>
            <a:r>
              <a:rPr lang="ro-RO" dirty="0"/>
              <a:t>Se poate defini doar un </a:t>
            </a:r>
            <a:r>
              <a:rPr lang="ro-RO" b="1" dirty="0"/>
              <a:t>singur index clustered </a:t>
            </a:r>
            <a:r>
              <a:rPr lang="ro-RO" dirty="0"/>
              <a:t>pe fiecare tabel, deoarece </a:t>
            </a:r>
            <a:r>
              <a:rPr lang="ro-RO" b="1" dirty="0"/>
              <a:t>nu</a:t>
            </a:r>
            <a:r>
              <a:rPr lang="ro-RO" dirty="0"/>
              <a:t> putem stoca fizic datele decât într-o singură ordine</a:t>
            </a:r>
            <a:endParaRPr lang="en-US" dirty="0"/>
          </a:p>
          <a:p>
            <a:r>
              <a:rPr lang="en-US" dirty="0" err="1"/>
              <a:t>Paginile</a:t>
            </a:r>
            <a:r>
              <a:rPr lang="en-US" dirty="0"/>
              <a:t> de date</a:t>
            </a:r>
            <a:r>
              <a:rPr lang="ro-RO" dirty="0"/>
              <a:t> ale unui index clustered vor conține întotdeauna toate coloanele din tabel</a:t>
            </a:r>
          </a:p>
          <a:p>
            <a:r>
              <a:rPr lang="ro-RO" dirty="0"/>
              <a:t>Sintaxa:</a:t>
            </a:r>
          </a:p>
          <a:p>
            <a:pPr marL="0" indent="0">
              <a:buNone/>
            </a:pPr>
            <a:r>
              <a:rPr lang="en-US" dirty="0"/>
              <a:t>	</a:t>
            </a:r>
            <a:r>
              <a:rPr lang="ro-RO" dirty="0">
                <a:latin typeface="Consolas" panose="020B0609020204030204" pitchFamily="49" charset="0"/>
              </a:rPr>
              <a:t>CREATE CLUSTERED INDEX index_name ON table_name</a:t>
            </a:r>
            <a:r>
              <a:rPr lang="en-US" dirty="0">
                <a:latin typeface="Consolas" panose="020B0609020204030204" pitchFamily="49" charset="0"/>
              </a:rPr>
              <a:t> 	</a:t>
            </a:r>
            <a:r>
              <a:rPr lang="ro-RO" dirty="0">
                <a:latin typeface="Consolas" panose="020B0609020204030204" pitchFamily="49" charset="0"/>
              </a:rPr>
              <a:t>(column</a:t>
            </a:r>
            <a:r>
              <a:rPr lang="en-US" dirty="0">
                <a:latin typeface="Consolas" panose="020B0609020204030204" pitchFamily="49" charset="0"/>
              </a:rPr>
              <a:t>_name(s) [ASC|DESC]</a:t>
            </a:r>
            <a:r>
              <a:rPr lang="ro-RO" dirty="0">
                <a:latin typeface="Consolas" panose="020B0609020204030204" pitchFamily="49" charset="0"/>
              </a:rPr>
              <a:t>)</a:t>
            </a:r>
            <a:r>
              <a:rPr lang="en-US" dirty="0">
                <a:latin typeface="Consolas" panose="020B0609020204030204" pitchFamily="49" charset="0"/>
              </a:rPr>
              <a:t>;</a:t>
            </a:r>
          </a:p>
          <a:p>
            <a:endParaRPr lang="en-US" dirty="0"/>
          </a:p>
        </p:txBody>
      </p:sp>
    </p:spTree>
    <p:extLst>
      <p:ext uri="{BB962C8B-B14F-4D97-AF65-F5344CB8AC3E}">
        <p14:creationId xmlns:p14="http://schemas.microsoft.com/office/powerpoint/2010/main" val="96173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406740" y="1523999"/>
            <a:ext cx="10586991" cy="5068825"/>
          </a:xfrm>
        </p:spPr>
        <p:txBody>
          <a:bodyPr>
            <a:normAutofit/>
          </a:bodyPr>
          <a:lstStyle/>
          <a:p>
            <a:r>
              <a:rPr lang="en-US" dirty="0"/>
              <a:t>Index</a:t>
            </a:r>
            <a:r>
              <a:rPr lang="ro-RO" dirty="0"/>
              <a:t>ul</a:t>
            </a:r>
            <a:r>
              <a:rPr lang="en-US" dirty="0"/>
              <a:t> n</a:t>
            </a:r>
            <a:r>
              <a:rPr lang="ro-RO" dirty="0"/>
              <a:t>onclustered stochează pointeri la date din heap/</a:t>
            </a:r>
            <a:r>
              <a:rPr lang="en-US" dirty="0" err="1"/>
              <a:t>indexul</a:t>
            </a:r>
            <a:r>
              <a:rPr lang="en-US" dirty="0"/>
              <a:t> </a:t>
            </a:r>
            <a:r>
              <a:rPr lang="ro-RO" dirty="0"/>
              <a:t>clustered ca parte din index key</a:t>
            </a:r>
          </a:p>
          <a:p>
            <a:r>
              <a:rPr lang="ro-RO" dirty="0"/>
              <a:t>Putem avea mai mulți indecși </a:t>
            </a:r>
            <a:r>
              <a:rPr lang="ro-RO" b="1" dirty="0" err="1"/>
              <a:t>nonclustered</a:t>
            </a:r>
            <a:r>
              <a:rPr lang="ro-RO" b="1" dirty="0"/>
              <a:t> </a:t>
            </a:r>
            <a:r>
              <a:rPr lang="ro-RO" dirty="0"/>
              <a:t>pe același tabel</a:t>
            </a:r>
          </a:p>
          <a:p>
            <a:r>
              <a:rPr lang="ro-RO" dirty="0"/>
              <a:t>Sintaxa:</a:t>
            </a:r>
          </a:p>
          <a:p>
            <a:pPr marL="0" indent="0">
              <a:buNone/>
            </a:pPr>
            <a:r>
              <a:rPr lang="en-US" dirty="0"/>
              <a:t>	</a:t>
            </a:r>
            <a:r>
              <a:rPr lang="en-US" dirty="0">
                <a:latin typeface="Consolas" panose="020B0609020204030204" pitchFamily="49" charset="0"/>
              </a:rPr>
              <a:t>CREATE INDEX </a:t>
            </a:r>
            <a:r>
              <a:rPr lang="ro-RO" dirty="0">
                <a:latin typeface="Consolas" panose="020B0609020204030204" pitchFamily="49" charset="0"/>
              </a:rPr>
              <a:t>i</a:t>
            </a:r>
            <a:r>
              <a:rPr lang="en-US" dirty="0" err="1">
                <a:latin typeface="Consolas" panose="020B0609020204030204" pitchFamily="49" charset="0"/>
              </a:rPr>
              <a:t>ndex</a:t>
            </a:r>
            <a:r>
              <a:rPr lang="en-US" dirty="0">
                <a:latin typeface="Consolas" panose="020B0609020204030204" pitchFamily="49" charset="0"/>
              </a:rPr>
              <a:t>_</a:t>
            </a:r>
            <a:r>
              <a:rPr lang="ro-RO" dirty="0">
                <a:latin typeface="Consolas" panose="020B0609020204030204" pitchFamily="49" charset="0"/>
              </a:rPr>
              <a:t>n</a:t>
            </a:r>
            <a:r>
              <a:rPr lang="en-US" dirty="0" err="1">
                <a:latin typeface="Consolas" panose="020B0609020204030204" pitchFamily="49" charset="0"/>
              </a:rPr>
              <a:t>ame</a:t>
            </a:r>
            <a:r>
              <a:rPr lang="ro-RO" dirty="0">
                <a:latin typeface="Consolas" panose="020B0609020204030204" pitchFamily="49" charset="0"/>
              </a:rPr>
              <a:t> </a:t>
            </a:r>
            <a:r>
              <a:rPr lang="en-US" dirty="0">
                <a:latin typeface="Consolas" panose="020B0609020204030204" pitchFamily="49" charset="0"/>
              </a:rPr>
              <a:t>ON </a:t>
            </a:r>
            <a:r>
              <a:rPr lang="ro-RO" dirty="0">
                <a:latin typeface="Consolas" panose="020B0609020204030204" pitchFamily="49" charset="0"/>
              </a:rPr>
              <a:t>t</a:t>
            </a:r>
            <a:r>
              <a:rPr lang="en-US" dirty="0">
                <a:latin typeface="Consolas" panose="020B0609020204030204" pitchFamily="49" charset="0"/>
              </a:rPr>
              <a:t>able</a:t>
            </a:r>
            <a:r>
              <a:rPr lang="ro-RO" dirty="0">
                <a:latin typeface="Consolas" panose="020B0609020204030204" pitchFamily="49" charset="0"/>
              </a:rPr>
              <a:t>_n</a:t>
            </a:r>
            <a:r>
              <a:rPr lang="en-US" dirty="0" err="1">
                <a:latin typeface="Consolas" panose="020B0609020204030204" pitchFamily="49" charset="0"/>
              </a:rPr>
              <a:t>ame</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en-US" dirty="0" err="1">
                <a:latin typeface="Consolas" panose="020B0609020204030204" pitchFamily="49" charset="0"/>
              </a:rPr>
              <a:t>column_name</a:t>
            </a:r>
            <a:r>
              <a:rPr lang="en-US" dirty="0">
                <a:latin typeface="Consolas" panose="020B0609020204030204" pitchFamily="49" charset="0"/>
              </a:rPr>
              <a:t>(s) [ASC|DESC]);</a:t>
            </a:r>
            <a:endParaRPr lang="ro-RO" dirty="0">
              <a:latin typeface="Consolas" panose="020B0609020204030204" pitchFamily="49" charset="0"/>
            </a:endParaRPr>
          </a:p>
          <a:p>
            <a:r>
              <a:rPr lang="ro-RO" dirty="0"/>
              <a:t>SQL Server suportă până la 999 indecși </a:t>
            </a:r>
            <a:r>
              <a:rPr lang="ro-RO" b="1" dirty="0" err="1"/>
              <a:t>nonclustered</a:t>
            </a:r>
            <a:r>
              <a:rPr lang="ro-RO" dirty="0"/>
              <a:t> pe tabel</a:t>
            </a:r>
          </a:p>
          <a:p>
            <a:r>
              <a:rPr lang="ro-RO" dirty="0"/>
              <a:t>Un index key poate fi format din maxim 32 coloane (versiuni SQL Server </a:t>
            </a:r>
            <a:r>
              <a:rPr lang="en-US" dirty="0"/>
              <a:t>&gt;=</a:t>
            </a:r>
            <a:r>
              <a:rPr lang="ro-RO" dirty="0"/>
              <a:t> 2016</a:t>
            </a:r>
            <a:r>
              <a:rPr lang="en-US" dirty="0"/>
              <a:t>)</a:t>
            </a:r>
            <a:r>
              <a:rPr lang="ro-RO" dirty="0"/>
              <a:t> </a:t>
            </a:r>
          </a:p>
          <a:p>
            <a:r>
              <a:rPr lang="ro-RO" dirty="0"/>
              <a:t>Un index key poate ocupa maxim 900 bytes (index clustered) și 1700 bytes (index nonclustered)</a:t>
            </a:r>
            <a:r>
              <a:rPr lang="en-US" dirty="0"/>
              <a:t>, </a:t>
            </a:r>
            <a:r>
              <a:rPr lang="ro-RO" dirty="0"/>
              <a:t>în cazul versiunilor SQL Server </a:t>
            </a:r>
            <a:r>
              <a:rPr lang="en-US" dirty="0"/>
              <a:t>&gt;=</a:t>
            </a:r>
            <a:r>
              <a:rPr lang="ro-RO" dirty="0"/>
              <a:t> 2016</a:t>
            </a:r>
          </a:p>
          <a:p>
            <a:endParaRPr lang="en-US" dirty="0"/>
          </a:p>
          <a:p>
            <a:endParaRPr lang="en-US" dirty="0"/>
          </a:p>
        </p:txBody>
      </p:sp>
    </p:spTree>
    <p:extLst>
      <p:ext uri="{BB962C8B-B14F-4D97-AF65-F5344CB8AC3E}">
        <p14:creationId xmlns:p14="http://schemas.microsoft.com/office/powerpoint/2010/main" val="196981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66043"/>
            <a:ext cx="10226484" cy="4419600"/>
          </a:xfrm>
        </p:spPr>
        <p:txBody>
          <a:bodyPr/>
          <a:lstStyle/>
          <a:p>
            <a:r>
              <a:rPr lang="ro-RO" dirty="0"/>
              <a:t>Când este creată o </a:t>
            </a:r>
            <a:r>
              <a:rPr lang="ro-RO" b="1" dirty="0"/>
              <a:t>cheie primară </a:t>
            </a:r>
            <a:r>
              <a:rPr lang="ro-RO" dirty="0"/>
              <a:t>pe un tabel, dacă nu e</a:t>
            </a:r>
            <a:r>
              <a:rPr lang="en-US" dirty="0" err="1"/>
              <a:t>xist</a:t>
            </a:r>
            <a:r>
              <a:rPr lang="ro-RO" dirty="0"/>
              <a:t>ă deja un index clustered și un index nonclustered nu este specificat, se creează un </a:t>
            </a:r>
            <a:r>
              <a:rPr lang="ro-RO" b="1" dirty="0"/>
              <a:t>index clustered unique </a:t>
            </a:r>
          </a:p>
          <a:p>
            <a:r>
              <a:rPr lang="ro-RO" dirty="0"/>
              <a:t>Dacă atunci când este creată o </a:t>
            </a:r>
            <a:r>
              <a:rPr lang="ro-RO" b="1" dirty="0"/>
              <a:t>cheie primară </a:t>
            </a:r>
            <a:r>
              <a:rPr lang="ro-RO" dirty="0"/>
              <a:t>pe un tabel există deja un index clustered definit pe acel tabel, se va crea un </a:t>
            </a:r>
            <a:r>
              <a:rPr lang="ro-RO" b="1" dirty="0"/>
              <a:t>index nonclustered unique</a:t>
            </a:r>
          </a:p>
          <a:p>
            <a:r>
              <a:rPr lang="ro-RO" dirty="0"/>
              <a:t>Dacă toate coloanele returnate de către o interogare se află în index, indexul se numește </a:t>
            </a:r>
            <a:r>
              <a:rPr lang="ro-RO" b="1" dirty="0" err="1"/>
              <a:t>covering</a:t>
            </a:r>
            <a:r>
              <a:rPr lang="ro-RO" b="1" dirty="0"/>
              <a:t> index</a:t>
            </a:r>
            <a:r>
              <a:rPr lang="ro-RO" dirty="0"/>
              <a:t>, iar interogarea se numește </a:t>
            </a:r>
            <a:r>
              <a:rPr lang="ro-RO" b="1" dirty="0" err="1"/>
              <a:t>covered</a:t>
            </a:r>
            <a:r>
              <a:rPr lang="ro-RO" b="1" dirty="0"/>
              <a:t> </a:t>
            </a:r>
            <a:r>
              <a:rPr lang="ro-RO" b="1" dirty="0" err="1"/>
              <a:t>query</a:t>
            </a:r>
            <a:endParaRPr lang="ro-RO" b="1" dirty="0"/>
          </a:p>
          <a:p>
            <a:endParaRPr lang="en-US" dirty="0"/>
          </a:p>
        </p:txBody>
      </p:sp>
    </p:spTree>
    <p:extLst>
      <p:ext uri="{BB962C8B-B14F-4D97-AF65-F5344CB8AC3E}">
        <p14:creationId xmlns:p14="http://schemas.microsoft.com/office/powerpoint/2010/main" val="404477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clustered</a:t>
            </a:r>
            <a:endParaRPr lang="en-US" sz="3400" dirty="0"/>
          </a:p>
        </p:txBody>
      </p:sp>
      <p:sp>
        <p:nvSpPr>
          <p:cNvPr id="3" name="Content Placeholder 2"/>
          <p:cNvSpPr>
            <a:spLocks noGrp="1"/>
          </p:cNvSpPr>
          <p:nvPr>
            <p:ph idx="1"/>
          </p:nvPr>
        </p:nvSpPr>
        <p:spPr>
          <a:xfrm>
            <a:off x="1460007" y="1595021"/>
            <a:ext cx="9965554" cy="4672614"/>
          </a:xfrm>
        </p:spPr>
        <p:txBody>
          <a:bodyPr/>
          <a:lstStyle/>
          <a:p>
            <a:r>
              <a:rPr lang="ro-RO" dirty="0"/>
              <a:t>Poate fi folosit pentru interogările care se execută în mod frecvent</a:t>
            </a:r>
          </a:p>
          <a:p>
            <a:r>
              <a:rPr lang="ro-RO" dirty="0"/>
              <a:t>Poate fi folosit în </a:t>
            </a:r>
            <a:r>
              <a:rPr lang="ro-RO" b="1" dirty="0" err="1"/>
              <a:t>range</a:t>
            </a:r>
            <a:r>
              <a:rPr lang="ro-RO" b="1" dirty="0"/>
              <a:t> </a:t>
            </a:r>
            <a:r>
              <a:rPr lang="ro-RO" b="1" dirty="0" err="1"/>
              <a:t>queries</a:t>
            </a:r>
            <a:endParaRPr lang="en-US" b="1" dirty="0"/>
          </a:p>
          <a:p>
            <a:r>
              <a:rPr lang="en-US" dirty="0"/>
              <a:t>Nu </a:t>
            </a:r>
            <a:r>
              <a:rPr lang="ro-RO" dirty="0"/>
              <a:t>este bine </a:t>
            </a:r>
            <a:r>
              <a:rPr lang="en-US" dirty="0"/>
              <a:t>s</a:t>
            </a:r>
            <a:r>
              <a:rPr lang="ro-RO" dirty="0"/>
              <a:t>ă definim un </a:t>
            </a:r>
            <a:r>
              <a:rPr lang="ro-RO" b="1" dirty="0"/>
              <a:t>index </a:t>
            </a:r>
            <a:r>
              <a:rPr lang="ro-RO" b="1" dirty="0" err="1"/>
              <a:t>clustered</a:t>
            </a:r>
            <a:r>
              <a:rPr lang="ro-RO" b="1" dirty="0"/>
              <a:t> </a:t>
            </a:r>
            <a:r>
              <a:rPr lang="ro-RO" dirty="0"/>
              <a:t>pe coloane care sunt actualizate des, deoarece SQL Server va trebui să modifice constant ordinea fizică a datelor </a:t>
            </a:r>
          </a:p>
          <a:p>
            <a:endParaRPr lang="en-US" dirty="0"/>
          </a:p>
        </p:txBody>
      </p:sp>
    </p:spTree>
    <p:extLst>
      <p:ext uri="{BB962C8B-B14F-4D97-AF65-F5344CB8AC3E}">
        <p14:creationId xmlns:p14="http://schemas.microsoft.com/office/powerpoint/2010/main" val="186327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nonclustered</a:t>
            </a:r>
            <a:endParaRPr lang="en-US" sz="3400" dirty="0"/>
          </a:p>
        </p:txBody>
      </p:sp>
      <p:sp>
        <p:nvSpPr>
          <p:cNvPr id="3" name="Content Placeholder 2"/>
          <p:cNvSpPr>
            <a:spLocks noGrp="1"/>
          </p:cNvSpPr>
          <p:nvPr>
            <p:ph idx="1"/>
          </p:nvPr>
        </p:nvSpPr>
        <p:spPr>
          <a:xfrm>
            <a:off x="1341119" y="1523999"/>
            <a:ext cx="10634857" cy="4187687"/>
          </a:xfrm>
        </p:spPr>
        <p:txBody>
          <a:bodyPr/>
          <a:lstStyle/>
          <a:p>
            <a:r>
              <a:rPr lang="en-US" dirty="0" err="1"/>
              <a:t>Exemplu</a:t>
            </a:r>
            <a:r>
              <a:rPr lang="ro-RO" dirty="0"/>
              <a:t> de definire a unui index nonclustered non unique:</a:t>
            </a:r>
            <a:endParaRPr lang="en-US" dirty="0"/>
          </a:p>
          <a:p>
            <a:pPr marL="45720" indent="0">
              <a:buNone/>
            </a:pPr>
            <a:r>
              <a:rPr lang="en-US" dirty="0"/>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NONCLUSTERED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4572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sau</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r>
              <a:rPr lang="en-US" dirty="0" err="1"/>
              <a:t>Atunci</a:t>
            </a:r>
            <a:r>
              <a:rPr lang="en-US" dirty="0"/>
              <a:t> c</a:t>
            </a:r>
            <a:r>
              <a:rPr lang="ro-RO" dirty="0"/>
              <a:t>ând se definește o </a:t>
            </a:r>
            <a:r>
              <a:rPr lang="ro-RO" b="1" dirty="0"/>
              <a:t>constrângere UNIQUE </a:t>
            </a:r>
            <a:r>
              <a:rPr lang="ro-RO" dirty="0"/>
              <a:t>pe un tabel, se va crea un </a:t>
            </a:r>
            <a:r>
              <a:rPr lang="ro-RO" b="1" dirty="0"/>
              <a:t>index nonclustered unique </a:t>
            </a:r>
            <a:r>
              <a:rPr lang="ro-RO" dirty="0"/>
              <a:t>pe coloana sau coloanele pe care este definită </a:t>
            </a:r>
            <a:r>
              <a:rPr lang="ro-RO" b="1" dirty="0"/>
              <a:t>constrângerea UNIQUE</a:t>
            </a:r>
          </a:p>
          <a:p>
            <a:endParaRPr lang="en-US" dirty="0"/>
          </a:p>
        </p:txBody>
      </p:sp>
    </p:spTree>
    <p:extLst>
      <p:ext uri="{BB962C8B-B14F-4D97-AF65-F5344CB8AC3E}">
        <p14:creationId xmlns:p14="http://schemas.microsoft.com/office/powerpoint/2010/main" val="287245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424495" y="1515122"/>
            <a:ext cx="10631381" cy="4419600"/>
          </a:xfrm>
        </p:spPr>
        <p:txBody>
          <a:bodyPr>
            <a:normAutofit/>
          </a:bodyPr>
          <a:lstStyle/>
          <a:p>
            <a:r>
              <a:rPr lang="ro-RO" b="1" dirty="0"/>
              <a:t>Coloane key</a:t>
            </a:r>
            <a:r>
              <a:rPr lang="ro-RO" dirty="0"/>
              <a:t>  – coloanele specificate la crearea unui index</a:t>
            </a:r>
          </a:p>
          <a:p>
            <a:r>
              <a:rPr lang="ro-RO" b="1" dirty="0"/>
              <a:t>Coloane nonkey  </a:t>
            </a:r>
            <a:r>
              <a:rPr lang="ro-RO" dirty="0"/>
              <a:t>– coloanele specificate în </a:t>
            </a:r>
            <a:r>
              <a:rPr lang="ro-RO" b="1" dirty="0"/>
              <a:t>clauza INCLUDE </a:t>
            </a:r>
            <a:r>
              <a:rPr lang="ro-RO" dirty="0"/>
              <a:t>a unui </a:t>
            </a:r>
            <a:r>
              <a:rPr lang="ro-RO" b="1" dirty="0"/>
              <a:t>index nonclustered</a:t>
            </a:r>
          </a:p>
          <a:p>
            <a:r>
              <a:rPr lang="ro-RO" dirty="0"/>
              <a:t>Sintaxa: </a:t>
            </a:r>
          </a:p>
          <a:p>
            <a:pPr marL="0" indent="0">
              <a:buNone/>
            </a:pPr>
            <a:r>
              <a:rPr lang="en-US" dirty="0"/>
              <a:t>	</a:t>
            </a:r>
            <a:r>
              <a:rPr lang="ro-RO" dirty="0">
                <a:latin typeface="Consolas" panose="020B0609020204030204" pitchFamily="49" charset="0"/>
              </a:rPr>
              <a:t>CREATE INDEX index_name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ON table_name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key_c</a:t>
            </a:r>
            <a:r>
              <a:rPr lang="ro-RO" dirty="0" err="1">
                <a:latin typeface="Consolas" panose="020B0609020204030204" pitchFamily="49" charset="0"/>
              </a:rPr>
              <a:t>olumn</a:t>
            </a:r>
            <a:r>
              <a:rPr lang="en-US" dirty="0">
                <a:latin typeface="Consolas" panose="020B0609020204030204" pitchFamily="49" charset="0"/>
              </a:rPr>
              <a:t>_name(s)[ASC|DESC]</a:t>
            </a:r>
            <a:r>
              <a:rPr lang="ro-RO" dirty="0">
                <a:latin typeface="Consolas" panose="020B0609020204030204" pitchFamily="49" charset="0"/>
              </a:rPr>
              <a:t>)</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ro-RO" dirty="0">
                <a:latin typeface="Consolas" panose="020B0609020204030204" pitchFamily="49" charset="0"/>
              </a:rPr>
              <a:t>INCLUDE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nonkey_c</a:t>
            </a:r>
            <a:r>
              <a:rPr lang="ro-RO" dirty="0">
                <a:latin typeface="Consolas" panose="020B0609020204030204" pitchFamily="49" charset="0"/>
              </a:rPr>
              <a:t>o</a:t>
            </a:r>
            <a:r>
              <a:rPr lang="en-US" dirty="0" err="1">
                <a:latin typeface="Consolas" panose="020B0609020204030204" pitchFamily="49" charset="0"/>
              </a:rPr>
              <a:t>lumn_name</a:t>
            </a:r>
            <a:r>
              <a:rPr lang="en-US" dirty="0">
                <a:latin typeface="Consolas" panose="020B0609020204030204" pitchFamily="49" charset="0"/>
              </a:rPr>
              <a:t>(s)</a:t>
            </a:r>
            <a:r>
              <a:rPr lang="ro-RO" dirty="0">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1286754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504395" y="1532878"/>
            <a:ext cx="10196374" cy="4557204"/>
          </a:xfrm>
        </p:spPr>
        <p:txBody>
          <a:bodyPr/>
          <a:lstStyle/>
          <a:p>
            <a:r>
              <a:rPr lang="ro-RO" b="1" dirty="0"/>
              <a:t>Beneficii</a:t>
            </a:r>
            <a:r>
              <a:rPr lang="ro-RO" dirty="0"/>
              <a:t> ale utilizării </a:t>
            </a:r>
            <a:r>
              <a:rPr lang="ro-RO" b="1" dirty="0"/>
              <a:t>coloanelor </a:t>
            </a:r>
            <a:r>
              <a:rPr lang="ro-RO" b="1" dirty="0" err="1"/>
              <a:t>nonkey</a:t>
            </a:r>
            <a:r>
              <a:rPr lang="en-US" dirty="0"/>
              <a:t>:</a:t>
            </a:r>
            <a:endParaRPr lang="ro-RO" dirty="0"/>
          </a:p>
          <a:p>
            <a:pPr lvl="1"/>
            <a:r>
              <a:rPr lang="ro-RO" sz="1900" dirty="0"/>
              <a:t>Coloanele pot fi accesate cu un </a:t>
            </a:r>
            <a:r>
              <a:rPr lang="ro-RO" sz="1900" b="1" dirty="0"/>
              <a:t>index </a:t>
            </a:r>
            <a:r>
              <a:rPr lang="ro-RO" sz="1900" b="1" dirty="0" err="1"/>
              <a:t>scan</a:t>
            </a:r>
            <a:endParaRPr lang="ro-RO" sz="1900" b="1" dirty="0"/>
          </a:p>
          <a:p>
            <a:pPr lvl="1"/>
            <a:r>
              <a:rPr lang="ro-RO" sz="1900" dirty="0"/>
              <a:t>Tipurile de date care nu sunt permise în coloanele care fac parte din index (index </a:t>
            </a:r>
            <a:r>
              <a:rPr lang="ro-RO" sz="1900" dirty="0" err="1"/>
              <a:t>key</a:t>
            </a:r>
            <a:r>
              <a:rPr lang="ro-RO" sz="1900" dirty="0"/>
              <a:t> </a:t>
            </a:r>
            <a:r>
              <a:rPr lang="ro-RO" sz="1900" dirty="0" err="1"/>
              <a:t>columns</a:t>
            </a:r>
            <a:r>
              <a:rPr lang="ro-RO" sz="1900" dirty="0"/>
              <a:t>) sunt permise în coloanele </a:t>
            </a:r>
            <a:r>
              <a:rPr lang="ro-RO" sz="1900" dirty="0" err="1"/>
              <a:t>nonkey</a:t>
            </a:r>
            <a:r>
              <a:rPr lang="ro-RO" sz="1900" dirty="0"/>
              <a:t> (</a:t>
            </a:r>
            <a:r>
              <a:rPr lang="en-US" sz="1900" dirty="0"/>
              <a:t>except</a:t>
            </a:r>
            <a:r>
              <a:rPr lang="ro-RO" sz="1900" dirty="0" err="1"/>
              <a:t>ând</a:t>
            </a:r>
            <a:r>
              <a:rPr lang="ro-RO" sz="1900" dirty="0"/>
              <a:t> tipurile de date text, </a:t>
            </a:r>
            <a:r>
              <a:rPr lang="ro-RO" sz="1900" dirty="0" err="1"/>
              <a:t>ntext</a:t>
            </a:r>
            <a:r>
              <a:rPr lang="ro-RO" sz="1900" dirty="0"/>
              <a:t> și </a:t>
            </a:r>
            <a:r>
              <a:rPr lang="ro-RO" sz="1900" dirty="0" err="1"/>
              <a:t>image</a:t>
            </a:r>
            <a:r>
              <a:rPr lang="ro-RO" sz="1900" dirty="0"/>
              <a:t>)</a:t>
            </a:r>
            <a:endParaRPr lang="en-US" sz="1900" dirty="0"/>
          </a:p>
          <a:p>
            <a:pPr lvl="1"/>
            <a:r>
              <a:rPr lang="en-US" sz="1900" dirty="0"/>
              <a:t>Pot</a:t>
            </a:r>
            <a:r>
              <a:rPr lang="ro-RO" sz="1900" dirty="0"/>
              <a:t> fi</a:t>
            </a:r>
            <a:r>
              <a:rPr lang="en-US" sz="1900" dirty="0"/>
              <a:t> </a:t>
            </a:r>
            <a:r>
              <a:rPr lang="en-US" sz="1900" dirty="0" err="1"/>
              <a:t>inclu</a:t>
            </a:r>
            <a:r>
              <a:rPr lang="ro-RO" sz="1900" dirty="0"/>
              <a:t>s</a:t>
            </a:r>
            <a:r>
              <a:rPr lang="en-US" sz="1900" dirty="0"/>
              <a:t>e </a:t>
            </a:r>
            <a:r>
              <a:rPr lang="en-US" sz="1900" dirty="0" err="1"/>
              <a:t>coloane</a:t>
            </a:r>
            <a:r>
              <a:rPr lang="en-US" sz="1900" dirty="0"/>
              <a:t> calculate, </a:t>
            </a:r>
            <a:r>
              <a:rPr lang="en-US" sz="1900" dirty="0" err="1"/>
              <a:t>dar</a:t>
            </a:r>
            <a:r>
              <a:rPr lang="en-US" sz="1900" dirty="0"/>
              <a:t> </a:t>
            </a:r>
            <a:r>
              <a:rPr lang="en-US" sz="1900" dirty="0" err="1"/>
              <a:t>valorile</a:t>
            </a:r>
            <a:r>
              <a:rPr lang="en-US" sz="1900" dirty="0"/>
              <a:t> </a:t>
            </a:r>
            <a:r>
              <a:rPr lang="en-US" sz="1900" dirty="0" err="1"/>
              <a:t>trebuie</a:t>
            </a:r>
            <a:r>
              <a:rPr lang="en-US" sz="1900" dirty="0"/>
              <a:t> s</a:t>
            </a:r>
            <a:r>
              <a:rPr lang="ro-RO" sz="1900" dirty="0"/>
              <a:t>ă fie deterministe</a:t>
            </a:r>
          </a:p>
          <a:p>
            <a:pPr lvl="1"/>
            <a:r>
              <a:rPr lang="ro-RO" sz="1900" dirty="0"/>
              <a:t>Coloanele care apar în </a:t>
            </a:r>
            <a:r>
              <a:rPr lang="ro-RO" sz="1900" b="1" dirty="0"/>
              <a:t>clauza INCLUDE </a:t>
            </a:r>
            <a:r>
              <a:rPr lang="ro-RO" sz="1900" dirty="0"/>
              <a:t>nu se iau în calcul în cazul limitei de 1700 bytes a unui index key impusă de SQL Server</a:t>
            </a:r>
            <a:endParaRPr lang="en-US" sz="1900" dirty="0"/>
          </a:p>
          <a:p>
            <a:endParaRPr lang="en-US" dirty="0"/>
          </a:p>
        </p:txBody>
      </p:sp>
    </p:spTree>
    <p:extLst>
      <p:ext uri="{BB962C8B-B14F-4D97-AF65-F5344CB8AC3E}">
        <p14:creationId xmlns:p14="http://schemas.microsoft.com/office/powerpoint/2010/main" val="17684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621654"/>
            <a:ext cx="10448426" cy="4419600"/>
          </a:xfrm>
        </p:spPr>
        <p:txBody>
          <a:bodyPr>
            <a:normAutofit/>
          </a:bodyPr>
          <a:lstStyle/>
          <a:p>
            <a:r>
              <a:rPr lang="en-US" dirty="0"/>
              <a:t>Un </a:t>
            </a:r>
            <a:r>
              <a:rPr lang="en-US" b="1" dirty="0"/>
              <a:t>index unique </a:t>
            </a:r>
            <a:r>
              <a:rPr lang="en-US" dirty="0"/>
              <a:t>(</a:t>
            </a:r>
            <a:r>
              <a:rPr lang="en-US" dirty="0" err="1"/>
              <a:t>unic</a:t>
            </a:r>
            <a:r>
              <a:rPr lang="en-US" dirty="0"/>
              <a:t>) </a:t>
            </a:r>
            <a:r>
              <a:rPr lang="en-US" dirty="0" err="1"/>
              <a:t>definit</a:t>
            </a:r>
            <a:r>
              <a:rPr lang="en-US" dirty="0"/>
              <a:t> </a:t>
            </a:r>
            <a:r>
              <a:rPr lang="en-US" dirty="0" err="1"/>
              <a:t>pe</a:t>
            </a:r>
            <a:r>
              <a:rPr lang="en-US" dirty="0"/>
              <a:t> </a:t>
            </a:r>
            <a:r>
              <a:rPr lang="en-US" dirty="0" err="1"/>
              <a:t>una</a:t>
            </a:r>
            <a:r>
              <a:rPr lang="en-US" dirty="0"/>
              <a:t> </a:t>
            </a:r>
            <a:r>
              <a:rPr lang="en-US" dirty="0" err="1"/>
              <a:t>sau</a:t>
            </a:r>
            <a:r>
              <a:rPr lang="en-US" dirty="0"/>
              <a:t> </a:t>
            </a:r>
            <a:r>
              <a:rPr lang="en-US" dirty="0" err="1"/>
              <a:t>mai</a:t>
            </a:r>
            <a:r>
              <a:rPr lang="en-US" dirty="0"/>
              <a:t> </a:t>
            </a:r>
            <a:r>
              <a:rPr lang="en-US" dirty="0" err="1"/>
              <a:t>multe</a:t>
            </a:r>
            <a:r>
              <a:rPr lang="en-US" dirty="0"/>
              <a:t> </a:t>
            </a:r>
            <a:r>
              <a:rPr lang="en-US" dirty="0" err="1"/>
              <a:t>coloane</a:t>
            </a:r>
            <a:r>
              <a:rPr lang="en-US" dirty="0"/>
              <a:t> </a:t>
            </a:r>
            <a:r>
              <a:rPr lang="en-US" dirty="0" err="1"/>
              <a:t>asigur</a:t>
            </a:r>
            <a:r>
              <a:rPr lang="ro-RO" dirty="0"/>
              <a:t>ă unicitatea valorilor la nivelul coloanei sau combinației de coloane pe care este definit</a:t>
            </a:r>
          </a:p>
          <a:p>
            <a:r>
              <a:rPr lang="ro-RO" dirty="0"/>
              <a:t>De exemplu, dacă vom crea un index nonclustered unic în tabelul </a:t>
            </a:r>
            <a:r>
              <a:rPr lang="ro-RO" i="1" dirty="0"/>
              <a:t>Categori</a:t>
            </a:r>
            <a:r>
              <a:rPr lang="en-US" i="1" dirty="0" err="1"/>
              <a:t>i</a:t>
            </a:r>
            <a:r>
              <a:rPr lang="ro-RO" dirty="0"/>
              <a:t> pe coloana </a:t>
            </a:r>
            <a:r>
              <a:rPr lang="ro-RO" i="1" dirty="0"/>
              <a:t>n</a:t>
            </a:r>
            <a:r>
              <a:rPr lang="en-US" i="1" dirty="0"/>
              <a:t>u</a:t>
            </a:r>
            <a:r>
              <a:rPr lang="ro-RO" i="1" dirty="0"/>
              <a:t>me</a:t>
            </a:r>
            <a:r>
              <a:rPr lang="ro-RO" dirty="0"/>
              <a:t>, nu vom putea avea două înregistrări cu aceeași valoare pentru coloana </a:t>
            </a:r>
            <a:r>
              <a:rPr lang="ro-RO" i="1" dirty="0"/>
              <a:t>n</a:t>
            </a:r>
            <a:r>
              <a:rPr lang="en-US" i="1" dirty="0"/>
              <a:t>u</a:t>
            </a:r>
            <a:r>
              <a:rPr lang="ro-RO" i="1" dirty="0"/>
              <a:t>me </a:t>
            </a:r>
            <a:r>
              <a:rPr lang="ro-RO" dirty="0"/>
              <a:t>în tabel</a:t>
            </a:r>
          </a:p>
          <a:p>
            <a:r>
              <a:rPr lang="ro-RO" dirty="0"/>
              <a:t>Dacă vom crea un index unic după ce am introdus date în tabel și avem valori duplicate în coloana sau coloanele pe care am definit indexul unic, operațiunea de creare a indexului va eșua</a:t>
            </a:r>
          </a:p>
          <a:p>
            <a:endParaRPr lang="en-US" dirty="0"/>
          </a:p>
        </p:txBody>
      </p:sp>
    </p:spTree>
    <p:extLst>
      <p:ext uri="{BB962C8B-B14F-4D97-AF65-F5344CB8AC3E}">
        <p14:creationId xmlns:p14="http://schemas.microsoft.com/office/powerpoint/2010/main" val="232162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524000"/>
            <a:ext cx="10510569" cy="4566082"/>
          </a:xfrm>
        </p:spPr>
        <p:txBody>
          <a:bodyPr>
            <a:normAutofit/>
          </a:bodyPr>
          <a:lstStyle/>
          <a:p>
            <a:r>
              <a:rPr lang="ro-RO" dirty="0"/>
              <a:t>Pentru a putea crea un index unic pe un tabel, va trebui să eliminăm înainte toate valorile duplicate din coloana sau coloanele pe care definim indexul unic</a:t>
            </a:r>
          </a:p>
          <a:p>
            <a:r>
              <a:rPr lang="ro-RO" dirty="0"/>
              <a:t>Un index unic garantează că fiecare valoare (inclusiv NULL) pentru coloana pe care a fost definit apare o singură dată în tabel </a:t>
            </a:r>
          </a:p>
          <a:p>
            <a:r>
              <a:rPr lang="ro-RO" dirty="0"/>
              <a:t>Exemplu de index </a:t>
            </a:r>
            <a:r>
              <a:rPr lang="ro-RO" dirty="0" err="1"/>
              <a:t>nonclustered</a:t>
            </a:r>
            <a:r>
              <a:rPr lang="ro-RO" dirty="0"/>
              <a:t> </a:t>
            </a:r>
            <a:r>
              <a:rPr lang="ro-RO" dirty="0" err="1"/>
              <a:t>unique</a:t>
            </a:r>
            <a:r>
              <a:rPr lang="ro-RO" dirty="0"/>
              <a:t> definit pe o singură coloană:</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IX_Categorii_nume_desc_uq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Categorii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endParaRPr lang="en-US" dirty="0"/>
          </a:p>
        </p:txBody>
      </p:sp>
    </p:spTree>
    <p:extLst>
      <p:ext uri="{BB962C8B-B14F-4D97-AF65-F5344CB8AC3E}">
        <p14:creationId xmlns:p14="http://schemas.microsoft.com/office/powerpoint/2010/main" val="121348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468886" y="1488488"/>
            <a:ext cx="10125352" cy="5104336"/>
          </a:xfrm>
        </p:spPr>
        <p:txBody>
          <a:bodyPr>
            <a:normAutofit/>
          </a:bodyPr>
          <a:lstStyle/>
          <a:p>
            <a:r>
              <a:rPr lang="ro-RO" dirty="0"/>
              <a:t>În cazul indecșilor unici se poate seta opțiunea </a:t>
            </a:r>
            <a:r>
              <a:rPr lang="ro-RO" b="1" dirty="0"/>
              <a:t>IGNORE_DUP_KEY</a:t>
            </a:r>
          </a:p>
          <a:p>
            <a:r>
              <a:rPr lang="ro-RO" dirty="0"/>
              <a:t>Dacă se setează </a:t>
            </a:r>
            <a:r>
              <a:rPr lang="ro-RO" b="1" dirty="0"/>
              <a:t>IGNORE_DUP_KEY=ON</a:t>
            </a:r>
            <a:r>
              <a:rPr lang="ro-RO" dirty="0"/>
              <a:t>, în cazul unui batch INSERT, se vor insera toate înregistrările care nu conțin valori duplicate, iar înregistrările care conțin valori duplicate vor fi ignorate și nu vor fi inserate în tabel</a:t>
            </a:r>
          </a:p>
          <a:p>
            <a:r>
              <a:rPr lang="ro-RO" dirty="0"/>
              <a:t>Exemplu de definire a unui index </a:t>
            </a:r>
            <a:r>
              <a:rPr lang="ro-RO" dirty="0" err="1"/>
              <a:t>nonclustered</a:t>
            </a:r>
            <a:r>
              <a:rPr lang="ro-RO" dirty="0"/>
              <a:t> </a:t>
            </a:r>
            <a:r>
              <a:rPr lang="ro-RO" dirty="0" err="1"/>
              <a:t>unique</a:t>
            </a:r>
            <a:r>
              <a:rPr lang="en-US" dirty="0"/>
              <a:t> </a:t>
            </a:r>
            <a:r>
              <a:rPr lang="en-US" dirty="0" err="1"/>
              <a:t>pe</a:t>
            </a:r>
            <a:r>
              <a:rPr lang="en-US" dirty="0"/>
              <a:t> o </a:t>
            </a:r>
            <a:r>
              <a:rPr lang="en-US" dirty="0" err="1"/>
              <a:t>singur</a:t>
            </a:r>
            <a:r>
              <a:rPr lang="ro-RO" dirty="0"/>
              <a:t>ă coloană cu opțiunea </a:t>
            </a:r>
            <a:r>
              <a:rPr lang="ro-RO" b="1" dirty="0"/>
              <a:t>IGNORE_DUP_KEY</a:t>
            </a:r>
            <a:r>
              <a:rPr lang="en-US" b="1" dirty="0"/>
              <a:t>=ON</a:t>
            </a:r>
            <a:r>
              <a:rPr lang="ro-RO" dirty="0"/>
              <a:t>:</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IX_Vizitatori_email_asc_uq </a:t>
            </a:r>
          </a:p>
          <a:p>
            <a:pPr marL="45720" indent="0">
              <a:buNone/>
            </a:pPr>
            <a:r>
              <a:rPr lang="en-US" sz="1800" dirty="0">
                <a:solidFill>
                  <a:srgbClr val="0000FF"/>
                </a:solidFill>
                <a:latin typeface="Consolas" panose="020B0609020204030204" pitchFamily="49" charset="0"/>
              </a:rPr>
              <a:t>	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Vizitatori</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email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IGNORE_DUP_KEY</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ON</a:t>
            </a:r>
            <a:r>
              <a:rPr lang="en-US" sz="1800" dirty="0">
                <a:solidFill>
                  <a:srgbClr val="808080"/>
                </a:solidFill>
                <a:latin typeface="Consolas" panose="020B0609020204030204" pitchFamily="49" charset="0"/>
              </a:rPr>
              <a:t>);</a:t>
            </a:r>
          </a:p>
          <a:p>
            <a:r>
              <a:rPr lang="ro-RO" dirty="0"/>
              <a:t>Indecșii non unique (care nu sunt unici) permit inserarea de valori duplicate în tabel</a:t>
            </a:r>
          </a:p>
          <a:p>
            <a:endParaRPr lang="en-US" dirty="0"/>
          </a:p>
        </p:txBody>
      </p:sp>
    </p:spTree>
    <p:extLst>
      <p:ext uri="{BB962C8B-B14F-4D97-AF65-F5344CB8AC3E}">
        <p14:creationId xmlns:p14="http://schemas.microsoft.com/office/powerpoint/2010/main" val="211948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66686" cy="1088136"/>
          </a:xfrm>
        </p:spPr>
        <p:txBody>
          <a:bodyPr>
            <a:normAutofit fontScale="90000"/>
          </a:bodyPr>
          <a:lstStyle/>
          <a:p>
            <a:r>
              <a:rPr lang="en-US" dirty="0" err="1"/>
              <a:t>Indec</a:t>
            </a:r>
            <a:r>
              <a:rPr lang="ro-RO" dirty="0"/>
              <a:t>și single column versus indecși multi-column </a:t>
            </a:r>
            <a:endParaRPr lang="en-US" dirty="0"/>
          </a:p>
        </p:txBody>
      </p:sp>
      <p:sp>
        <p:nvSpPr>
          <p:cNvPr id="3" name="Content Placeholder 2"/>
          <p:cNvSpPr>
            <a:spLocks noGrp="1"/>
          </p:cNvSpPr>
          <p:nvPr>
            <p:ph idx="1"/>
          </p:nvPr>
        </p:nvSpPr>
        <p:spPr>
          <a:xfrm>
            <a:off x="1341120" y="1559510"/>
            <a:ext cx="10235362" cy="4091189"/>
          </a:xfrm>
        </p:spPr>
        <p:txBody>
          <a:bodyPr>
            <a:normAutofit/>
          </a:bodyPr>
          <a:lstStyle/>
          <a:p>
            <a:r>
              <a:rPr lang="ro-RO" dirty="0"/>
              <a:t>Un </a:t>
            </a:r>
            <a:r>
              <a:rPr lang="ro-RO" b="1" dirty="0"/>
              <a:t>index</a:t>
            </a:r>
            <a:r>
              <a:rPr lang="ro-RO" dirty="0"/>
              <a:t> </a:t>
            </a:r>
            <a:r>
              <a:rPr lang="ro-RO" b="1" dirty="0"/>
              <a:t>single </a:t>
            </a:r>
            <a:r>
              <a:rPr lang="ro-RO" b="1" dirty="0" err="1"/>
              <a:t>column</a:t>
            </a:r>
            <a:r>
              <a:rPr lang="ro-RO" b="1" dirty="0"/>
              <a:t> </a:t>
            </a:r>
            <a:r>
              <a:rPr lang="ro-RO" dirty="0"/>
              <a:t>este un index definit pe o singură coloană (care conține o singură coloană </a:t>
            </a:r>
            <a:r>
              <a:rPr lang="ro-RO" dirty="0" err="1"/>
              <a:t>key</a:t>
            </a:r>
            <a:r>
              <a:rPr lang="ro-RO" dirty="0"/>
              <a:t> în index </a:t>
            </a:r>
            <a:r>
              <a:rPr lang="ro-RO" dirty="0" err="1"/>
              <a:t>key</a:t>
            </a:r>
            <a:r>
              <a:rPr lang="ro-RO" dirty="0"/>
              <a:t>)</a:t>
            </a:r>
          </a:p>
          <a:p>
            <a:r>
              <a:rPr lang="ro-RO" dirty="0"/>
              <a:t>Un </a:t>
            </a:r>
            <a:r>
              <a:rPr lang="ro-RO" b="1" dirty="0"/>
              <a:t>index </a:t>
            </a:r>
            <a:r>
              <a:rPr lang="ro-RO" b="1" dirty="0" err="1"/>
              <a:t>multi-column</a:t>
            </a:r>
            <a:r>
              <a:rPr lang="ro-RO" b="1" dirty="0"/>
              <a:t> </a:t>
            </a:r>
            <a:r>
              <a:rPr lang="ro-RO" dirty="0"/>
              <a:t>este un index definit pe mai multe coloane (care conține mai multe coloane </a:t>
            </a:r>
            <a:r>
              <a:rPr lang="ro-RO" dirty="0" err="1"/>
              <a:t>key</a:t>
            </a:r>
            <a:r>
              <a:rPr lang="ro-RO" dirty="0"/>
              <a:t> în index </a:t>
            </a:r>
            <a:r>
              <a:rPr lang="ro-RO" dirty="0" err="1"/>
              <a:t>key</a:t>
            </a:r>
            <a:r>
              <a:rPr lang="ro-RO" dirty="0"/>
              <a:t>)</a:t>
            </a:r>
          </a:p>
          <a:p>
            <a:r>
              <a:rPr lang="ro-RO" dirty="0"/>
              <a:t>Dacă dorim să folosim indexul și pentru sortarea înregistrărilor care sunt returnate, va trebui să ținem cont de ordinea crescătoare sau descrescătoare a coloanelor care fac parte din index </a:t>
            </a:r>
            <a:r>
              <a:rPr lang="ro-RO" dirty="0" err="1"/>
              <a:t>key</a:t>
            </a:r>
            <a:endParaRPr lang="ro-RO" dirty="0"/>
          </a:p>
          <a:p>
            <a:r>
              <a:rPr lang="ro-RO" dirty="0"/>
              <a:t>În cazul unui index </a:t>
            </a:r>
            <a:r>
              <a:rPr lang="ro-RO" b="1" dirty="0"/>
              <a:t>single</a:t>
            </a:r>
            <a:r>
              <a:rPr lang="en-US" b="1" dirty="0"/>
              <a:t> </a:t>
            </a:r>
            <a:r>
              <a:rPr lang="ro-RO" b="1" dirty="0" err="1"/>
              <a:t>column</a:t>
            </a:r>
            <a:r>
              <a:rPr lang="ro-RO" dirty="0"/>
              <a:t>, ordinea specificată pentru </a:t>
            </a:r>
            <a:r>
              <a:rPr lang="ro-RO" dirty="0" err="1"/>
              <a:t>coloan</a:t>
            </a:r>
            <a:r>
              <a:rPr lang="en-US" dirty="0"/>
              <a:t>a key</a:t>
            </a:r>
            <a:r>
              <a:rPr lang="ro-RO" dirty="0"/>
              <a:t> nu este atât de importantă deoarece se poate folosi indexul pentru a sorta după coloana respectivă atât în ordine crescătoare cât și în ordine descrescătoare</a:t>
            </a:r>
          </a:p>
          <a:p>
            <a:endParaRPr lang="en-US" dirty="0"/>
          </a:p>
          <a:p>
            <a:endParaRPr lang="en-US" dirty="0"/>
          </a:p>
        </p:txBody>
      </p:sp>
    </p:spTree>
    <p:extLst>
      <p:ext uri="{BB962C8B-B14F-4D97-AF65-F5344CB8AC3E}">
        <p14:creationId xmlns:p14="http://schemas.microsoft.com/office/powerpoint/2010/main" val="349727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235362"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20" y="1577265"/>
            <a:ext cx="10066686" cy="4227444"/>
          </a:xfrm>
        </p:spPr>
        <p:txBody>
          <a:bodyPr/>
          <a:lstStyle/>
          <a:p>
            <a:r>
              <a:rPr lang="en-US" dirty="0" err="1"/>
              <a:t>Exemplu</a:t>
            </a:r>
            <a:r>
              <a:rPr lang="en-US" dirty="0"/>
              <a:t> de </a:t>
            </a:r>
            <a:r>
              <a:rPr lang="en-US" dirty="0" err="1"/>
              <a:t>definire</a:t>
            </a:r>
            <a:r>
              <a:rPr lang="en-US" dirty="0"/>
              <a:t> a </a:t>
            </a:r>
            <a:r>
              <a:rPr lang="en-US" dirty="0" err="1"/>
              <a:t>unui</a:t>
            </a:r>
            <a:r>
              <a:rPr lang="en-US" dirty="0"/>
              <a:t> index </a:t>
            </a:r>
            <a:r>
              <a:rPr lang="en-US" dirty="0" err="1"/>
              <a:t>nonclustered</a:t>
            </a:r>
            <a:r>
              <a:rPr lang="en-US" dirty="0"/>
              <a:t> non unique single column:</a:t>
            </a:r>
          </a:p>
          <a:p>
            <a:pPr marL="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IX_Sectiuni_nume_desc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Sectiuni</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nume </a:t>
            </a:r>
            <a:r>
              <a:rPr lang="it-IT" sz="1800" dirty="0">
                <a:solidFill>
                  <a:srgbClr val="0000FF"/>
                </a:solidFill>
                <a:latin typeface="Consolas" panose="020B0609020204030204" pitchFamily="49" charset="0"/>
              </a:rPr>
              <a:t>DESC</a:t>
            </a:r>
            <a:r>
              <a:rPr lang="it-IT" sz="1800" dirty="0">
                <a:solidFill>
                  <a:srgbClr val="808080"/>
                </a:solidFill>
                <a:latin typeface="Consolas" panose="020B0609020204030204" pitchFamily="49" charset="0"/>
              </a:rPr>
              <a:t>);</a:t>
            </a:r>
          </a:p>
          <a:p>
            <a:pPr marL="342900" indent="-342900"/>
            <a:r>
              <a:rPr lang="en-US" dirty="0" err="1"/>
              <a:t>Indexul</a:t>
            </a:r>
            <a:r>
              <a:rPr lang="en-US" dirty="0"/>
              <a:t> </a:t>
            </a:r>
            <a:r>
              <a:rPr lang="en-US" dirty="0" err="1"/>
              <a:t>definit</a:t>
            </a:r>
            <a:r>
              <a:rPr lang="en-US" dirty="0"/>
              <a:t> </a:t>
            </a:r>
            <a:r>
              <a:rPr lang="en-US" dirty="0" err="1"/>
              <a:t>mai</a:t>
            </a:r>
            <a:r>
              <a:rPr lang="en-US" dirty="0"/>
              <a:t> sus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ambele</a:t>
            </a:r>
            <a:r>
              <a:rPr lang="en-US" dirty="0"/>
              <a:t> </a:t>
            </a:r>
            <a:r>
              <a:rPr lang="en-US" dirty="0" err="1"/>
              <a:t>interog</a:t>
            </a:r>
            <a:r>
              <a:rPr lang="ro-RO" dirty="0" err="1"/>
              <a:t>ări</a:t>
            </a:r>
            <a:r>
              <a:rPr lang="ro-RO" dirty="0"/>
              <a:t> de mai jos:</a:t>
            </a:r>
          </a:p>
          <a:p>
            <a:pPr marL="45720" indent="0">
              <a:buNone/>
            </a:pPr>
            <a:r>
              <a:rPr lang="ro-RO" sz="1800" dirty="0">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p>
          <a:p>
            <a:r>
              <a:rPr lang="ro-RO" dirty="0"/>
              <a:t>În cazul indecșilor </a:t>
            </a:r>
            <a:r>
              <a:rPr lang="ro-RO" b="1" dirty="0"/>
              <a:t>multi-column</a:t>
            </a:r>
            <a:r>
              <a:rPr lang="ro-RO" dirty="0"/>
              <a:t>, ordinea coloanelor key este importantă dacă dorim să se utilizeze indexul pentru sortarea înregistrărilor după coloanele care fac parte din index key</a:t>
            </a:r>
          </a:p>
          <a:p>
            <a:endParaRPr lang="en-US" dirty="0"/>
          </a:p>
        </p:txBody>
      </p:sp>
    </p:spTree>
    <p:extLst>
      <p:ext uri="{BB962C8B-B14F-4D97-AF65-F5344CB8AC3E}">
        <p14:creationId xmlns:p14="http://schemas.microsoft.com/office/powerpoint/2010/main" val="218440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13420"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59510"/>
            <a:ext cx="10404037" cy="5033314"/>
          </a:xfrm>
        </p:spPr>
        <p:txBody>
          <a:bodyPr>
            <a:normAutofit/>
          </a:bodyPr>
          <a:lstStyle/>
          <a:p>
            <a:r>
              <a:rPr lang="ro-RO" dirty="0"/>
              <a:t>Exemplu de definire a unui index </a:t>
            </a:r>
            <a:r>
              <a:rPr lang="ro-RO" dirty="0" err="1"/>
              <a:t>nonclustered</a:t>
            </a:r>
            <a:r>
              <a:rPr lang="ro-RO" dirty="0"/>
              <a:t> non </a:t>
            </a:r>
            <a:r>
              <a:rPr lang="ro-RO" dirty="0" err="1"/>
              <a:t>unique</a:t>
            </a:r>
            <a:r>
              <a:rPr lang="ro-RO" dirty="0"/>
              <a:t> </a:t>
            </a:r>
            <a:r>
              <a:rPr lang="ro-RO" dirty="0" err="1"/>
              <a:t>multi-column</a:t>
            </a:r>
            <a:r>
              <a:rPr lang="ro-RO" dirty="0"/>
              <a:t>:</a:t>
            </a:r>
          </a:p>
          <a:p>
            <a:pPr marL="45720" indent="0">
              <a:buNone/>
            </a:pPr>
            <a:r>
              <a:rPr lang="ro-RO" sz="1800" dirty="0">
                <a:latin typeface="Consolas" panose="020B0609020204030204" pitchFamily="49" charset="0"/>
              </a:rPr>
              <a:t>	</a:t>
            </a:r>
            <a:r>
              <a:rPr lang="ro-RO"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endParaRPr lang="ro-RO" sz="1800" dirty="0">
              <a:latin typeface="Consolas" panose="020B0609020204030204" pitchFamily="49" charset="0"/>
            </a:endParaRPr>
          </a:p>
          <a:p>
            <a:r>
              <a:rPr lang="ro-RO" dirty="0"/>
              <a:t>Indexul definit mai sus va putea fi folosit </a:t>
            </a:r>
            <a:r>
              <a:rPr lang="ro-RO" b="1" dirty="0"/>
              <a:t>pentru sortare </a:t>
            </a:r>
            <a:r>
              <a:rPr lang="ro-RO" dirty="0"/>
              <a:t>în cazul interogărilor de mai jos:</a:t>
            </a:r>
          </a:p>
          <a:p>
            <a:pPr marL="45720" indent="0">
              <a:buNone/>
            </a:pPr>
            <a:r>
              <a:rPr lang="ro-RO" sz="1800" dirty="0">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latin typeface="Consolas" panose="020B0609020204030204" pitchFamily="49" charset="0"/>
            </a:endParaRPr>
          </a:p>
        </p:txBody>
      </p:sp>
    </p:spTree>
    <p:extLst>
      <p:ext uri="{BB962C8B-B14F-4D97-AF65-F5344CB8AC3E}">
        <p14:creationId xmlns:p14="http://schemas.microsoft.com/office/powerpoint/2010/main" val="422190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102197"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41755"/>
            <a:ext cx="10315261" cy="4147930"/>
          </a:xfrm>
        </p:spPr>
        <p:txBody>
          <a:bodyPr/>
          <a:lstStyle/>
          <a:p>
            <a:r>
              <a:rPr lang="ro-RO" dirty="0"/>
              <a:t>Indexul </a:t>
            </a:r>
            <a:r>
              <a:rPr lang="ro-RO" dirty="0">
                <a:solidFill>
                  <a:srgbClr val="000000"/>
                </a:solidFill>
                <a:latin typeface="Consolas" panose="020B0609020204030204" pitchFamily="49" charset="0"/>
              </a:rPr>
              <a:t>IX_Atractii_varsta_min_asc_nume_asc</a:t>
            </a:r>
            <a:r>
              <a:rPr lang="en-US" dirty="0">
                <a:solidFill>
                  <a:srgbClr val="000000"/>
                </a:solidFill>
                <a:latin typeface="Consolas" panose="020B0609020204030204" pitchFamily="49" charset="0"/>
              </a:rPr>
              <a:t> </a:t>
            </a:r>
            <a:r>
              <a:rPr lang="ro-RO" dirty="0"/>
              <a:t>definit anterior </a:t>
            </a:r>
            <a:r>
              <a:rPr lang="ro-RO" b="1" dirty="0"/>
              <a:t>nu va putea fi folosit pentru sortare</a:t>
            </a:r>
            <a:r>
              <a:rPr lang="ro-RO" dirty="0"/>
              <a:t> în cazul interogărilor de mai jos:</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32119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412915"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95021"/>
            <a:ext cx="9924643" cy="3988158"/>
          </a:xfrm>
        </p:spPr>
        <p:txBody>
          <a:bodyPr/>
          <a:lstStyle/>
          <a:p>
            <a:r>
              <a:rPr lang="ro-RO" dirty="0"/>
              <a:t>Indecșii </a:t>
            </a:r>
            <a:r>
              <a:rPr lang="ro-RO" b="1" dirty="0" err="1"/>
              <a:t>nonclustered</a:t>
            </a:r>
            <a:r>
              <a:rPr lang="ro-RO" b="1" dirty="0"/>
              <a:t> full-table </a:t>
            </a:r>
            <a:r>
              <a:rPr lang="ro-RO" dirty="0"/>
              <a:t>conțin toate valorile coloanei sau coloanelor pe care au fost definiți</a:t>
            </a:r>
          </a:p>
          <a:p>
            <a:r>
              <a:rPr lang="ro-RO" dirty="0"/>
              <a:t>Indecșii </a:t>
            </a:r>
            <a:r>
              <a:rPr lang="ro-RO" b="1" dirty="0" err="1"/>
              <a:t>nonclustered</a:t>
            </a:r>
            <a:r>
              <a:rPr lang="ro-RO" b="1" dirty="0"/>
              <a:t> </a:t>
            </a:r>
            <a:r>
              <a:rPr lang="ro-RO" b="1" dirty="0" err="1"/>
              <a:t>filtered</a:t>
            </a:r>
            <a:r>
              <a:rPr lang="ro-RO" b="1" dirty="0"/>
              <a:t> </a:t>
            </a:r>
            <a:r>
              <a:rPr lang="ro-RO" dirty="0"/>
              <a:t>conțin doar acele valori pentru care evaluarea condiției specificate la crearea indexului returnează </a:t>
            </a:r>
            <a:r>
              <a:rPr lang="ro-RO" i="1" dirty="0" err="1"/>
              <a:t>true</a:t>
            </a:r>
            <a:endParaRPr lang="ro-RO" i="1" dirty="0"/>
          </a:p>
          <a:p>
            <a:r>
              <a:rPr lang="ro-RO" dirty="0"/>
              <a:t>Exemplu de definire a unui index </a:t>
            </a:r>
            <a:r>
              <a:rPr lang="ro-RO" dirty="0" err="1"/>
              <a:t>nonclustered</a:t>
            </a:r>
            <a:r>
              <a:rPr lang="ro-RO" dirty="0"/>
              <a:t> non </a:t>
            </a:r>
            <a:r>
              <a:rPr lang="ro-RO" dirty="0" err="1"/>
              <a:t>unique</a:t>
            </a:r>
            <a:r>
              <a:rPr lang="ro-RO" dirty="0"/>
              <a:t> single </a:t>
            </a:r>
            <a:r>
              <a:rPr lang="ro-RO" dirty="0" err="1"/>
              <a:t>column</a:t>
            </a:r>
            <a:r>
              <a:rPr lang="ro-RO" dirty="0"/>
              <a:t> </a:t>
            </a:r>
            <a:r>
              <a:rPr lang="ro-RO" dirty="0" err="1"/>
              <a:t>filtered</a:t>
            </a:r>
            <a:r>
              <a:rPr lang="ro-RO" dirty="0"/>
              <a:t>:</a:t>
            </a:r>
          </a:p>
          <a:p>
            <a:pPr marL="45720" indent="0">
              <a:buNone/>
            </a:pPr>
            <a:r>
              <a:rPr lang="en-US" dirty="0"/>
              <a:t>	</a:t>
            </a: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INDEX</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IX_Atractii_nume_asc_filtered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WHERE</a:t>
            </a:r>
            <a:r>
              <a:rPr lang="ro-RO" sz="1800" dirty="0">
                <a:solidFill>
                  <a:srgbClr val="000000"/>
                </a:solidFill>
                <a:latin typeface="Consolas" panose="020B0609020204030204" pitchFamily="49" charset="0"/>
              </a:rPr>
              <a:t> nume </a:t>
            </a:r>
            <a:r>
              <a:rPr lang="ro-RO" sz="1800" dirty="0">
                <a:solidFill>
                  <a:srgbClr val="808080"/>
                </a:solidFill>
                <a:latin typeface="Consolas" panose="020B0609020204030204" pitchFamily="49" charset="0"/>
              </a:rPr>
              <a:t>&gt;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'C'</a:t>
            </a:r>
            <a:r>
              <a:rPr lang="ro-RO" sz="1800" dirty="0">
                <a:solidFill>
                  <a:srgbClr val="808080"/>
                </a:solidFill>
                <a:latin typeface="Consolas" panose="020B0609020204030204" pitchFamily="49" charset="0"/>
              </a:rPr>
              <a:t>;</a:t>
            </a:r>
            <a:endParaRPr lang="en-US" dirty="0">
              <a:latin typeface="Consolas" panose="020B0609020204030204" pitchFamily="49" charset="0"/>
            </a:endParaRPr>
          </a:p>
          <a:p>
            <a:endParaRPr lang="en-US" dirty="0"/>
          </a:p>
        </p:txBody>
      </p:sp>
    </p:spTree>
    <p:extLst>
      <p:ext uri="{BB962C8B-B14F-4D97-AF65-F5344CB8AC3E}">
        <p14:creationId xmlns:p14="http://schemas.microsoft.com/office/powerpoint/2010/main" val="236977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546080"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59511"/>
            <a:ext cx="10359649" cy="4194220"/>
          </a:xfrm>
        </p:spPr>
        <p:txBody>
          <a:bodyPr/>
          <a:lstStyle/>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en-US" dirty="0">
                <a:solidFill>
                  <a:srgbClr val="000000"/>
                </a:solidFill>
                <a:latin typeface="Consolas" panose="020B0609020204030204" pitchFamily="49" charset="0"/>
              </a:rPr>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'E'</a:t>
            </a:r>
            <a:r>
              <a:rPr lang="en-US" sz="1800" dirty="0">
                <a:solidFill>
                  <a:srgbClr val="808080"/>
                </a:solidFill>
                <a:latin typeface="Consolas" panose="020B0609020204030204" pitchFamily="49" charset="0"/>
              </a:rPr>
              <a:t>;</a:t>
            </a:r>
          </a:p>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ro-RO" dirty="0"/>
              <a:t> </a:t>
            </a:r>
            <a:r>
              <a:rPr lang="en-US" dirty="0"/>
              <a:t> </a:t>
            </a:r>
            <a:r>
              <a:rPr lang="ro-RO" b="1" dirty="0"/>
              <a:t>nu</a:t>
            </a:r>
            <a:r>
              <a:rPr lang="ro-RO" dirty="0"/>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endParaRPr lang="en-US" dirty="0"/>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descriere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24040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pentru DELETE</a:t>
            </a:r>
            <a:endParaRPr lang="en-US" sz="3400" dirty="0"/>
          </a:p>
        </p:txBody>
      </p:sp>
      <p:sp>
        <p:nvSpPr>
          <p:cNvPr id="3" name="Content Placeholder 2"/>
          <p:cNvSpPr>
            <a:spLocks noGrp="1"/>
          </p:cNvSpPr>
          <p:nvPr>
            <p:ph idx="1"/>
          </p:nvPr>
        </p:nvSpPr>
        <p:spPr>
          <a:xfrm>
            <a:off x="1341120" y="1541754"/>
            <a:ext cx="8770571" cy="4219977"/>
          </a:xfrm>
        </p:spPr>
        <p:txBody>
          <a:bodyPr/>
          <a:lstStyle/>
          <a:p>
            <a:r>
              <a:rPr lang="ro-RO" dirty="0"/>
              <a:t>Indecșii pot fi utili și în momentul în care trebuie să ștergem date din baza de date, nu doar atunci când returnăm date</a:t>
            </a:r>
          </a:p>
          <a:p>
            <a:r>
              <a:rPr lang="ro-RO" dirty="0"/>
              <a:t>Atunci când se efectuează o operațiune de ștergere, SQL Server verifică toate tabelele dependente de tabelul din care se șterg date pentru a determina dacă există înregistrări dependente de cele pe care dorim să le ștergem</a:t>
            </a:r>
          </a:p>
          <a:p>
            <a:r>
              <a:rPr lang="ro-RO" dirty="0"/>
              <a:t>În acest caz, un index definit pe un </a:t>
            </a:r>
            <a:r>
              <a:rPr lang="ro-RO" b="1" dirty="0"/>
              <a:t>foreign key </a:t>
            </a:r>
            <a:r>
              <a:rPr lang="ro-RO" dirty="0"/>
              <a:t>va putea fi folosit pentru a găsi înregistrările dependente mult mai rapid</a:t>
            </a:r>
          </a:p>
          <a:p>
            <a:r>
              <a:rPr lang="ro-RO" dirty="0"/>
              <a:t>În caz contrar, SQL Server va verifica toate înregistrările din tabelul respectiv, prin urmare operațiunea de ștergere va fi lentă</a:t>
            </a:r>
          </a:p>
        </p:txBody>
      </p:sp>
    </p:spTree>
    <p:extLst>
      <p:ext uri="{BB962C8B-B14F-4D97-AF65-F5344CB8AC3E}">
        <p14:creationId xmlns:p14="http://schemas.microsoft.com/office/powerpoint/2010/main" val="299769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Modificarea unui index</a:t>
            </a:r>
            <a:endParaRPr lang="en-US" sz="3400" dirty="0"/>
          </a:p>
        </p:txBody>
      </p:sp>
      <p:sp>
        <p:nvSpPr>
          <p:cNvPr id="3" name="Content Placeholder 2"/>
          <p:cNvSpPr>
            <a:spLocks noGrp="1"/>
          </p:cNvSpPr>
          <p:nvPr>
            <p:ph idx="1"/>
          </p:nvPr>
        </p:nvSpPr>
        <p:spPr>
          <a:xfrm>
            <a:off x="1415618" y="1506243"/>
            <a:ext cx="10169741" cy="4002157"/>
          </a:xfrm>
        </p:spPr>
        <p:txBody>
          <a:bodyPr/>
          <a:lstStyle/>
          <a:p>
            <a:r>
              <a:rPr lang="ro-RO" dirty="0"/>
              <a:t>Dacă dorim să ștergem sau să adăugăm coloane într-un index va trebui să ștergem și să creăm din nou indexul </a:t>
            </a:r>
          </a:p>
          <a:p>
            <a:r>
              <a:rPr lang="ro-RO" dirty="0"/>
              <a:t>Dacă dorim să dezactivăm un index sau să setăm anumite opțiuni, putem folosi instrucțiunea </a:t>
            </a:r>
            <a:r>
              <a:rPr lang="ro-RO" b="1" dirty="0"/>
              <a:t>ALTER INDEX</a:t>
            </a:r>
          </a:p>
          <a:p>
            <a:r>
              <a:rPr lang="ro-RO" dirty="0"/>
              <a:t>Exemplu de dezactivare a unui index:</a:t>
            </a:r>
          </a:p>
          <a:p>
            <a:pPr marL="0" indent="0">
              <a:buNone/>
            </a:pPr>
            <a:r>
              <a:rPr lang="ro-RO" dirty="0"/>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DISABLE</a:t>
            </a:r>
            <a:r>
              <a:rPr lang="ro-RO" sz="1800" dirty="0">
                <a:solidFill>
                  <a:srgbClr val="808080"/>
                </a:solidFill>
                <a:latin typeface="Consolas" panose="020B0609020204030204" pitchFamily="49" charset="0"/>
              </a:rPr>
              <a:t>;</a:t>
            </a:r>
            <a:endParaRPr lang="ro-RO" dirty="0">
              <a:latin typeface="Consolas" panose="020B0609020204030204" pitchFamily="49" charset="0"/>
            </a:endParaRPr>
          </a:p>
          <a:p>
            <a:r>
              <a:rPr lang="ro-RO" dirty="0"/>
              <a:t>Exemplu de reactivare a unui index dezactivat:</a:t>
            </a:r>
          </a:p>
          <a:p>
            <a:pPr marL="0" indent="0">
              <a:buNone/>
            </a:pPr>
            <a:r>
              <a:rPr lang="ro-RO" dirty="0">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REBUILD</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6425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Ștergerea unui index</a:t>
            </a:r>
            <a:endParaRPr lang="en-US" sz="3400" dirty="0"/>
          </a:p>
        </p:txBody>
      </p:sp>
      <p:sp>
        <p:nvSpPr>
          <p:cNvPr id="3" name="Content Placeholder 2"/>
          <p:cNvSpPr>
            <a:spLocks noGrp="1"/>
          </p:cNvSpPr>
          <p:nvPr>
            <p:ph idx="1"/>
          </p:nvPr>
        </p:nvSpPr>
        <p:spPr/>
        <p:txBody>
          <a:bodyPr/>
          <a:lstStyle/>
          <a:p>
            <a:r>
              <a:rPr lang="ro-RO" dirty="0"/>
              <a:t>În anumite situații, un index devine inutil și trebuie eliminat</a:t>
            </a:r>
          </a:p>
          <a:p>
            <a:r>
              <a:rPr lang="ro-RO" dirty="0"/>
              <a:t>Sintaxa pentru ștergerea unui index:</a:t>
            </a:r>
          </a:p>
          <a:p>
            <a:pPr marL="0" indent="0">
              <a:buNone/>
            </a:pPr>
            <a:r>
              <a:rPr lang="ro-RO" dirty="0"/>
              <a:t>	</a:t>
            </a:r>
            <a:r>
              <a:rPr lang="ro-RO" dirty="0">
                <a:latin typeface="Consolas" panose="020B0609020204030204" pitchFamily="49" charset="0"/>
              </a:rPr>
              <a:t>DROP INDEX index_name ON table_name</a:t>
            </a:r>
            <a:r>
              <a:rPr lang="en-US" dirty="0">
                <a:latin typeface="Consolas" panose="020B0609020204030204" pitchFamily="49" charset="0"/>
              </a:rPr>
              <a:t>;</a:t>
            </a:r>
            <a:endParaRPr lang="ro-RO" dirty="0">
              <a:latin typeface="Consolas" panose="020B0609020204030204" pitchFamily="49" charset="0"/>
            </a:endParaRPr>
          </a:p>
          <a:p>
            <a:r>
              <a:rPr lang="ro-RO" dirty="0"/>
              <a:t>Exemplu de ștergere a unui index:</a:t>
            </a:r>
          </a:p>
          <a:p>
            <a:pPr marL="0" indent="0">
              <a:buNone/>
            </a:pPr>
            <a:r>
              <a:rPr lang="ro-RO" dirty="0"/>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8754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 Recomandări</a:t>
            </a:r>
            <a:endParaRPr lang="en-US" sz="3400" dirty="0"/>
          </a:p>
        </p:txBody>
      </p:sp>
      <p:sp>
        <p:nvSpPr>
          <p:cNvPr id="3" name="Content Placeholder 2"/>
          <p:cNvSpPr>
            <a:spLocks noGrp="1"/>
          </p:cNvSpPr>
          <p:nvPr>
            <p:ph idx="1"/>
          </p:nvPr>
        </p:nvSpPr>
        <p:spPr>
          <a:xfrm>
            <a:off x="1341120" y="1506243"/>
            <a:ext cx="10261995" cy="4155583"/>
          </a:xfrm>
        </p:spPr>
        <p:txBody>
          <a:bodyPr>
            <a:normAutofit lnSpcReduction="10000"/>
          </a:bodyPr>
          <a:lstStyle/>
          <a:p>
            <a:r>
              <a:rPr lang="ro-RO" dirty="0"/>
              <a:t>Indecșii sunt utili pentru </a:t>
            </a:r>
            <a:r>
              <a:rPr lang="ro-RO" b="1" dirty="0"/>
              <a:t>mărirea</a:t>
            </a:r>
            <a:r>
              <a:rPr lang="ro-RO" dirty="0"/>
              <a:t> performanței operațiunilor de </a:t>
            </a:r>
            <a:r>
              <a:rPr lang="ro-RO" b="1" dirty="0"/>
              <a:t>citire</a:t>
            </a:r>
            <a:r>
              <a:rPr lang="ro-RO" dirty="0"/>
              <a:t>, dar </a:t>
            </a:r>
            <a:r>
              <a:rPr lang="ro-RO" b="1" dirty="0"/>
              <a:t>scad</a:t>
            </a:r>
            <a:r>
              <a:rPr lang="ro-RO" dirty="0"/>
              <a:t> performanța operațiunilor de </a:t>
            </a:r>
            <a:r>
              <a:rPr lang="ro-RO" b="1" dirty="0"/>
              <a:t>scriere</a:t>
            </a:r>
          </a:p>
          <a:p>
            <a:r>
              <a:rPr lang="ro-RO" dirty="0"/>
              <a:t>Tipuri de </a:t>
            </a:r>
            <a:r>
              <a:rPr lang="ro-RO" b="1" dirty="0"/>
              <a:t>coloane</a:t>
            </a:r>
            <a:r>
              <a:rPr lang="ro-RO" dirty="0"/>
              <a:t> recomandate ca </a:t>
            </a:r>
            <a:r>
              <a:rPr lang="ro-RO" i="1" dirty="0"/>
              <a:t>index </a:t>
            </a:r>
            <a:r>
              <a:rPr lang="ro-RO" i="1" dirty="0" err="1"/>
              <a:t>key</a:t>
            </a:r>
            <a:r>
              <a:rPr lang="ro-RO" i="1" dirty="0"/>
              <a:t> </a:t>
            </a:r>
            <a:r>
              <a:rPr lang="ro-RO" i="1" dirty="0" err="1"/>
              <a:t>columns</a:t>
            </a:r>
            <a:r>
              <a:rPr lang="ro-RO" dirty="0"/>
              <a:t>:</a:t>
            </a:r>
          </a:p>
          <a:p>
            <a:pPr marL="0" indent="0">
              <a:buNone/>
            </a:pPr>
            <a:r>
              <a:rPr lang="ro-RO" dirty="0"/>
              <a:t>	- </a:t>
            </a:r>
            <a:r>
              <a:rPr lang="en-US" dirty="0" err="1"/>
              <a:t>coloane</a:t>
            </a:r>
            <a:r>
              <a:rPr lang="en-US" dirty="0"/>
              <a:t> care au </a:t>
            </a:r>
            <a:r>
              <a:rPr lang="en-US" dirty="0" err="1"/>
              <a:t>definit</a:t>
            </a:r>
            <a:r>
              <a:rPr lang="ro-RO" dirty="0"/>
              <a:t>ă o constrângere </a:t>
            </a:r>
            <a:r>
              <a:rPr lang="ro-RO" b="1" dirty="0"/>
              <a:t>foreign key</a:t>
            </a:r>
          </a:p>
          <a:p>
            <a:pPr marL="0" indent="0">
              <a:buNone/>
            </a:pPr>
            <a:r>
              <a:rPr lang="ro-RO" dirty="0"/>
              <a:t>	- coloane care apar în clauza </a:t>
            </a:r>
            <a:r>
              <a:rPr lang="ro-RO" b="1" dirty="0"/>
              <a:t>WHERE</a:t>
            </a:r>
            <a:r>
              <a:rPr lang="ro-RO" dirty="0"/>
              <a:t> a interogărilor</a:t>
            </a:r>
          </a:p>
          <a:p>
            <a:pPr marL="0" indent="0">
              <a:buNone/>
            </a:pPr>
            <a:r>
              <a:rPr lang="ro-RO" dirty="0"/>
              <a:t>	- coloane care apar în clauza </a:t>
            </a:r>
            <a:r>
              <a:rPr lang="ro-RO" b="1" dirty="0"/>
              <a:t>ORDER BY </a:t>
            </a:r>
            <a:r>
              <a:rPr lang="ro-RO" dirty="0"/>
              <a:t>a interogărilor</a:t>
            </a:r>
          </a:p>
          <a:p>
            <a:pPr marL="0" indent="0">
              <a:buNone/>
            </a:pPr>
            <a:r>
              <a:rPr lang="ro-RO" dirty="0"/>
              <a:t>	- coloane pe baza cărora se fac </a:t>
            </a:r>
            <a:r>
              <a:rPr lang="ro-RO" b="1" dirty="0"/>
              <a:t>JOIN</a:t>
            </a:r>
            <a:r>
              <a:rPr lang="ro-RO" dirty="0"/>
              <a:t>-uri </a:t>
            </a:r>
          </a:p>
          <a:p>
            <a:pPr marL="0" indent="0">
              <a:buNone/>
            </a:pPr>
            <a:r>
              <a:rPr lang="ro-RO" dirty="0"/>
              <a:t>	- coloane care apar în clauza </a:t>
            </a:r>
            <a:r>
              <a:rPr lang="ro-RO" b="1" dirty="0"/>
              <a:t>GROUP BY </a:t>
            </a:r>
            <a:r>
              <a:rPr lang="ro-RO" dirty="0"/>
              <a:t>a interogărilor</a:t>
            </a:r>
          </a:p>
          <a:p>
            <a:pPr marL="0" indent="0">
              <a:buNone/>
            </a:pPr>
            <a:r>
              <a:rPr lang="ro-RO" dirty="0"/>
              <a:t>	- coloane c</a:t>
            </a:r>
            <a:r>
              <a:rPr lang="en-US" dirty="0"/>
              <a:t>u</a:t>
            </a:r>
            <a:r>
              <a:rPr lang="ro-RO" dirty="0"/>
              <a:t> grad </a:t>
            </a:r>
            <a:r>
              <a:rPr lang="ro-RO" b="1" dirty="0"/>
              <a:t>mare</a:t>
            </a:r>
            <a:r>
              <a:rPr lang="ro-RO" dirty="0"/>
              <a:t> de varietate</a:t>
            </a:r>
            <a:r>
              <a:rPr lang="en-US" dirty="0"/>
              <a:t> a </a:t>
            </a:r>
            <a:r>
              <a:rPr lang="en-US" dirty="0" err="1"/>
              <a:t>valorilor</a:t>
            </a:r>
            <a:endParaRPr lang="ro-RO" dirty="0"/>
          </a:p>
          <a:p>
            <a:endParaRPr lang="en-US" dirty="0"/>
          </a:p>
        </p:txBody>
      </p:sp>
    </p:spTree>
    <p:extLst>
      <p:ext uri="{BB962C8B-B14F-4D97-AF65-F5344CB8AC3E}">
        <p14:creationId xmlns:p14="http://schemas.microsoft.com/office/powerpoint/2010/main" val="198188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Recomand</a:t>
            </a:r>
            <a:r>
              <a:rPr lang="ro-RO" sz="3400" dirty="0"/>
              <a:t>ări de proiectare a indecșilor</a:t>
            </a:r>
            <a:endParaRPr lang="en-US" sz="3400" dirty="0"/>
          </a:p>
        </p:txBody>
      </p:sp>
      <p:sp>
        <p:nvSpPr>
          <p:cNvPr id="3" name="Content Placeholder 2"/>
          <p:cNvSpPr>
            <a:spLocks noGrp="1"/>
          </p:cNvSpPr>
          <p:nvPr>
            <p:ph idx="1"/>
          </p:nvPr>
        </p:nvSpPr>
        <p:spPr/>
        <p:txBody>
          <a:bodyPr/>
          <a:lstStyle/>
          <a:p>
            <a:r>
              <a:rPr lang="ro-RO" dirty="0"/>
              <a:t>Înțelegerea caracteristicilor bazei de date (OLTP versus OLAP)</a:t>
            </a:r>
          </a:p>
          <a:p>
            <a:r>
              <a:rPr lang="ro-RO" dirty="0"/>
              <a:t>Înțelegerea caracteristicilor celor mai frecvente interogări</a:t>
            </a:r>
          </a:p>
          <a:p>
            <a:r>
              <a:rPr lang="ro-RO" dirty="0"/>
              <a:t>Înțelegerea caracteristicilor coloanelor care sunt folosite în interogări</a:t>
            </a:r>
          </a:p>
          <a:p>
            <a:r>
              <a:rPr lang="ro-RO" dirty="0"/>
              <a:t>Determinarea locației de stocare optimă pentru index</a:t>
            </a:r>
          </a:p>
          <a:p>
            <a:endParaRPr lang="en-US" dirty="0"/>
          </a:p>
        </p:txBody>
      </p:sp>
    </p:spTree>
    <p:extLst>
      <p:ext uri="{BB962C8B-B14F-4D97-AF65-F5344CB8AC3E}">
        <p14:creationId xmlns:p14="http://schemas.microsoft.com/office/powerpoint/2010/main" val="129683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5D22-FB7F-FA10-7C92-0DC1F1C28999}"/>
              </a:ext>
            </a:extLst>
          </p:cNvPr>
          <p:cNvSpPr>
            <a:spLocks noGrp="1"/>
          </p:cNvSpPr>
          <p:nvPr>
            <p:ph type="title"/>
          </p:nvPr>
        </p:nvSpPr>
        <p:spPr/>
        <p:txBody>
          <a:bodyPr/>
          <a:lstStyle/>
          <a:p>
            <a:r>
              <a:rPr lang="en-US" sz="3400" dirty="0" err="1"/>
              <a:t>Exerci</a:t>
            </a:r>
            <a:r>
              <a:rPr lang="ro-RO" sz="3400" dirty="0"/>
              <a:t>ții</a:t>
            </a:r>
          </a:p>
        </p:txBody>
      </p:sp>
      <p:sp>
        <p:nvSpPr>
          <p:cNvPr id="3" name="Content Placeholder 2">
            <a:extLst>
              <a:ext uri="{FF2B5EF4-FFF2-40B4-BE49-F238E27FC236}">
                <a16:creationId xmlns:a16="http://schemas.microsoft.com/office/drawing/2014/main" id="{5ADC1209-BA98-0CD6-E9E4-AA25CFB1031C}"/>
              </a:ext>
            </a:extLst>
          </p:cNvPr>
          <p:cNvSpPr>
            <a:spLocks noGrp="1"/>
          </p:cNvSpPr>
          <p:nvPr>
            <p:ph idx="1"/>
          </p:nvPr>
        </p:nvSpPr>
        <p:spPr>
          <a:xfrm>
            <a:off x="1341120" y="1572768"/>
            <a:ext cx="10453716" cy="4142232"/>
          </a:xfrm>
        </p:spPr>
        <p:txBody>
          <a:bodyPr>
            <a:normAutofit/>
          </a:bodyPr>
          <a:lstStyle/>
          <a:p>
            <a:r>
              <a:rPr lang="ro-RO" sz="2200" dirty="0"/>
              <a:t>1. Creați indecși pentru a optimiza execuția interogărilor specificate în exercițiile și/sau exemplele din al doilea seminar. </a:t>
            </a:r>
          </a:p>
          <a:p>
            <a:r>
              <a:rPr lang="ro-RO" sz="2200" dirty="0"/>
              <a:t>2. Creați indecși pentru a optimiza execuția interogărilor create în a doua temă de laborator.</a:t>
            </a:r>
          </a:p>
        </p:txBody>
      </p:sp>
    </p:spTree>
    <p:extLst>
      <p:ext uri="{BB962C8B-B14F-4D97-AF65-F5344CB8AC3E}">
        <p14:creationId xmlns:p14="http://schemas.microsoft.com/office/powerpoint/2010/main" val="427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964C-31B4-5604-3C14-EFF6A1BB22AC}"/>
              </a:ext>
            </a:extLst>
          </p:cNvPr>
          <p:cNvSpPr>
            <a:spLocks noGrp="1"/>
          </p:cNvSpPr>
          <p:nvPr>
            <p:ph type="title"/>
          </p:nvPr>
        </p:nvSpPr>
        <p:spPr/>
        <p:txBody>
          <a:bodyPr>
            <a:normAutofit/>
          </a:bodyPr>
          <a:lstStyle/>
          <a:p>
            <a:r>
              <a:rPr lang="ro-RO" sz="3400" dirty="0"/>
              <a:t>Bibli</a:t>
            </a:r>
            <a:r>
              <a:rPr lang="en-US" sz="3400" dirty="0"/>
              <a:t>o</a:t>
            </a:r>
            <a:r>
              <a:rPr lang="ro-RO" sz="3400" dirty="0"/>
              <a:t>grafie</a:t>
            </a:r>
          </a:p>
        </p:txBody>
      </p:sp>
      <p:sp>
        <p:nvSpPr>
          <p:cNvPr id="3" name="Content Placeholder 2">
            <a:extLst>
              <a:ext uri="{FF2B5EF4-FFF2-40B4-BE49-F238E27FC236}">
                <a16:creationId xmlns:a16="http://schemas.microsoft.com/office/drawing/2014/main" id="{87A674FB-4363-E5EE-9850-003F0B9FFBFF}"/>
              </a:ext>
            </a:extLst>
          </p:cNvPr>
          <p:cNvSpPr>
            <a:spLocks noGrp="1"/>
          </p:cNvSpPr>
          <p:nvPr>
            <p:ph idx="1"/>
          </p:nvPr>
        </p:nvSpPr>
        <p:spPr>
          <a:xfrm>
            <a:off x="1341119" y="1572768"/>
            <a:ext cx="10253117" cy="5020056"/>
          </a:xfrm>
        </p:spPr>
        <p:txBody>
          <a:bodyPr>
            <a:normAutofit lnSpcReduction="10000"/>
          </a:bodyPr>
          <a:lstStyle/>
          <a:p>
            <a:r>
              <a:rPr lang="ro-RO" dirty="0">
                <a:hlinkClick r:id="rId2"/>
              </a:rPr>
              <a:t>https://learn.microsoft.com/en-us/sql/relational-databases/sql-server-index-design-guide?view=sql-server-ver16&amp;source=recommendations#General_Design</a:t>
            </a:r>
            <a:endParaRPr lang="ro-RO" dirty="0"/>
          </a:p>
          <a:p>
            <a:r>
              <a:rPr lang="ro-RO" dirty="0">
                <a:hlinkClick r:id="rId3"/>
              </a:rPr>
              <a:t>https://learn.microsoft.com/en-us/sql/relational-databases/indexes/indexes?view=sql-server-ver16&amp;source=recommendations</a:t>
            </a:r>
            <a:endParaRPr lang="ro-RO" dirty="0"/>
          </a:p>
          <a:p>
            <a:r>
              <a:rPr lang="ro-RO" dirty="0">
                <a:hlinkClick r:id="rId4"/>
              </a:rPr>
              <a:t>https://learn.microsoft.com/en-us/sql/relational-databases/indexes/heaps-tables-without-clustered-indexes?view=sql-server-ver16</a:t>
            </a:r>
            <a:endParaRPr lang="ro-RO" dirty="0"/>
          </a:p>
          <a:p>
            <a:r>
              <a:rPr lang="ro-RO" dirty="0">
                <a:hlinkClick r:id="rId5"/>
              </a:rPr>
              <a:t>https://learn.microsoft.com/en-us/sql/relational-databases/indexes/create-clustered-indexes?view=sql-server-ver16</a:t>
            </a:r>
            <a:endParaRPr lang="ro-RO" dirty="0"/>
          </a:p>
          <a:p>
            <a:r>
              <a:rPr lang="ro-RO" dirty="0">
                <a:hlinkClick r:id="rId6"/>
              </a:rPr>
              <a:t>https://learn.microsoft.com/en-us/sql/relational-databases/indexes/create-nonclustered-indexes?view=sql-server-ver16</a:t>
            </a:r>
            <a:endParaRPr lang="ro-RO" dirty="0"/>
          </a:p>
          <a:p>
            <a:r>
              <a:rPr lang="ro-RO" dirty="0">
                <a:hlinkClick r:id="rId7"/>
              </a:rPr>
              <a:t>https://learn.microsoft.com/en-us/sql/t-sql/statements/create-index-transact-sql?view=sql-server-ver16</a:t>
            </a:r>
            <a:r>
              <a:rPr lang="ro-RO" dirty="0"/>
              <a:t> </a:t>
            </a:r>
          </a:p>
          <a:p>
            <a:r>
              <a:rPr lang="ro-RO" dirty="0">
                <a:hlinkClick r:id="rId8"/>
              </a:rPr>
              <a:t>https://learn.microsoft.com/en-us/sql/relational-databases/performance/execution-plans?view=sql-server-ver17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239992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493A-7DF4-7A47-9E68-2F87AE02BDCD}"/>
              </a:ext>
            </a:extLst>
          </p:cNvPr>
          <p:cNvSpPr>
            <a:spLocks noGrp="1"/>
          </p:cNvSpPr>
          <p:nvPr>
            <p:ph type="title"/>
          </p:nvPr>
        </p:nvSpPr>
        <p:spPr/>
        <p:txBody>
          <a:bodyPr>
            <a:normAutofit/>
          </a:bodyPr>
          <a:lstStyle/>
          <a:p>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Bibli</a:t>
            </a:r>
            <a:r>
              <a:rPr kumimoji="0" lang="en-US" sz="3400" b="0" i="0" u="none" strike="noStrike" kern="1200" cap="none" spc="0" normalizeH="0" baseline="0" noProof="0" dirty="0">
                <a:ln>
                  <a:noFill/>
                </a:ln>
                <a:solidFill>
                  <a:srgbClr val="3691AA">
                    <a:lumMod val="50000"/>
                  </a:srgbClr>
                </a:solidFill>
                <a:effectLst/>
                <a:uLnTx/>
                <a:uFillTx/>
                <a:latin typeface="Georgia"/>
                <a:ea typeface="+mj-ea"/>
                <a:cs typeface="+mj-cs"/>
              </a:rPr>
              <a:t>o</a:t>
            </a:r>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grafie</a:t>
            </a:r>
            <a:endParaRPr lang="ro-RO" sz="3400" dirty="0"/>
          </a:p>
        </p:txBody>
      </p:sp>
      <p:sp>
        <p:nvSpPr>
          <p:cNvPr id="3" name="Content Placeholder 2">
            <a:extLst>
              <a:ext uri="{FF2B5EF4-FFF2-40B4-BE49-F238E27FC236}">
                <a16:creationId xmlns:a16="http://schemas.microsoft.com/office/drawing/2014/main" id="{84888338-6D41-AD91-FE57-4317B35E25EC}"/>
              </a:ext>
            </a:extLst>
          </p:cNvPr>
          <p:cNvSpPr>
            <a:spLocks noGrp="1"/>
          </p:cNvSpPr>
          <p:nvPr>
            <p:ph idx="1"/>
          </p:nvPr>
        </p:nvSpPr>
        <p:spPr>
          <a:xfrm>
            <a:off x="1341119" y="1572767"/>
            <a:ext cx="10297505" cy="4899053"/>
          </a:xfrm>
        </p:spPr>
        <p:txBody>
          <a:bodyPr>
            <a:normAutofit lnSpcReduction="10000"/>
          </a:bodyPr>
          <a:lstStyle/>
          <a:p>
            <a:r>
              <a:rPr lang="ro-RO" dirty="0">
                <a:hlinkClick r:id="rId2"/>
              </a:rPr>
              <a:t>https://learn.microsoft.com/en-us/sql/relational-databases/indexes/create-unique-indexes?view=sql-server-ver16</a:t>
            </a:r>
            <a:endParaRPr lang="ro-RO" dirty="0"/>
          </a:p>
          <a:p>
            <a:r>
              <a:rPr lang="ro-RO" dirty="0">
                <a:hlinkClick r:id="rId3"/>
              </a:rPr>
              <a:t>https://learn.microsoft.com/en-us/sql/relational-databases/indexes/create-filtered-indexes?view=sql-server-ver16</a:t>
            </a:r>
            <a:endParaRPr lang="ro-RO" dirty="0"/>
          </a:p>
          <a:p>
            <a:r>
              <a:rPr lang="ro-RO" dirty="0">
                <a:hlinkClick r:id="rId4"/>
              </a:rPr>
              <a:t>https://learn.microsoft.com/en-us/sql/relational-databases/indexes/create-indexes-with-included-columns?view=sql-server-ver16</a:t>
            </a:r>
            <a:endParaRPr lang="ro-RO" dirty="0"/>
          </a:p>
          <a:p>
            <a:r>
              <a:rPr lang="ro-RO" dirty="0">
                <a:hlinkClick r:id="rId5"/>
              </a:rPr>
              <a:t>https://learn.microsoft.com/en-us/sql/relational-databases/indexes/delete-an-index?view=sql-server-ver16</a:t>
            </a:r>
            <a:endParaRPr lang="ro-RO" dirty="0"/>
          </a:p>
          <a:p>
            <a:r>
              <a:rPr lang="ro-RO" dirty="0">
                <a:hlinkClick r:id="rId6"/>
              </a:rPr>
              <a:t>https://learn.microsoft.com/en-us/sql/relational-databases/indexes/modify-an-index?view=sql-server-ver16</a:t>
            </a:r>
            <a:endParaRPr lang="ro-RO" dirty="0"/>
          </a:p>
          <a:p>
            <a:r>
              <a:rPr lang="ro-RO" dirty="0">
                <a:hlinkClick r:id="rId7"/>
              </a:rPr>
              <a:t>https://learn.microsoft.com/en-us/sql/relational-databases/indexes/disable-indexes-and-constraints?view=sql-server-ver16</a:t>
            </a:r>
            <a:endParaRPr lang="ro-RO" dirty="0"/>
          </a:p>
          <a:p>
            <a:r>
              <a:rPr lang="ro-RO" dirty="0">
                <a:hlinkClick r:id="rId8"/>
              </a:rPr>
              <a:t>https://learn.microsoft.com/en-us/sql/relational-databases/performance/display-and-save-execution-plans?view=sql-server-ver17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135620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5E4EDB042A764384A34028A2E2DA7F" ma:contentTypeVersion="3" ma:contentTypeDescription="Create a new document." ma:contentTypeScope="" ma:versionID="edc139cabba7862d46ff48aa38d01be7">
  <xsd:schema xmlns:xsd="http://www.w3.org/2001/XMLSchema" xmlns:xs="http://www.w3.org/2001/XMLSchema" xmlns:p="http://schemas.microsoft.com/office/2006/metadata/properties" xmlns:ns2="95d722e6-2abf-4e76-817e-b7542abcddf5" targetNamespace="http://schemas.microsoft.com/office/2006/metadata/properties" ma:root="true" ma:fieldsID="7fce9730d8ca2c4448e5448727f34ccc" ns2:_="">
    <xsd:import namespace="95d722e6-2abf-4e76-817e-b7542abcd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d722e6-2abf-4e76-817e-b7542abcd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7288D8E-21D0-419C-9271-B3D9CF346076}"/>
</file>

<file path=customXml/itemProps2.xml><?xml version="1.0" encoding="utf-8"?>
<ds:datastoreItem xmlns:ds="http://schemas.openxmlformats.org/officeDocument/2006/customXml" ds:itemID="{B1913DA0-CC7F-44D1-AF6B-C7B26EA37F5F}"/>
</file>

<file path=customXml/itemProps3.xml><?xml version="1.0" encoding="utf-8"?>
<ds:datastoreItem xmlns:ds="http://schemas.openxmlformats.org/officeDocument/2006/customXml" ds:itemID="{8B70A9BF-EFB0-4AB8-9725-56B694DDAFE4}"/>
</file>

<file path=docProps/app.xml><?xml version="1.0" encoding="utf-8"?>
<Properties xmlns="http://schemas.openxmlformats.org/officeDocument/2006/extended-properties" xmlns:vt="http://schemas.openxmlformats.org/officeDocument/2006/docPropsVTypes">
  <Template>Prezentare cu pictură Ocean (ecran lat)</Template>
  <TotalTime>1135</TotalTime>
  <Words>2974</Words>
  <Application>Microsoft Office PowerPoint</Application>
  <PresentationFormat>Widescreen</PresentationFormat>
  <Paragraphs>196</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Consolas</vt:lpstr>
      <vt:lpstr>Georgia</vt:lpstr>
      <vt:lpstr>Ocean 16x9</vt:lpstr>
      <vt:lpstr>Indecși</vt:lpstr>
      <vt:lpstr>Introducere</vt:lpstr>
      <vt:lpstr>Introducere</vt:lpstr>
      <vt:lpstr>Plan de execuție estimat (estimated execution plan)</vt:lpstr>
      <vt:lpstr>Plan de execuție real (actual execution plan)</vt:lpstr>
      <vt:lpstr>Statistici live ale interogărilor (live query statistics)</vt:lpstr>
      <vt:lpstr>Afișarea planului real de execuție</vt:lpstr>
      <vt:lpstr>Indecși</vt:lpstr>
      <vt:lpstr>Indecși</vt:lpstr>
      <vt:lpstr>Caracteristici ale indecșilor</vt:lpstr>
      <vt:lpstr>Indecși: clustered vs nonclustered</vt:lpstr>
      <vt:lpstr>Indecși: clustered vs nonclustered</vt:lpstr>
      <vt:lpstr>Indecși: clustered vs nonclustered</vt:lpstr>
      <vt:lpstr>Index clustered</vt:lpstr>
      <vt:lpstr>Index nonclustered</vt:lpstr>
      <vt:lpstr>Indecși: coloane key și coloane nonkey</vt:lpstr>
      <vt:lpstr>Indecși: coloane key și coloane nonkey</vt:lpstr>
      <vt:lpstr>Indecși unique versus indecși non unique</vt:lpstr>
      <vt:lpstr>Indecși unique versus indecși non unique</vt:lpstr>
      <vt:lpstr>Indecși unique versus indecși non unique</vt:lpstr>
      <vt:lpstr>Indecși single column versus indecși multi-column </vt:lpstr>
      <vt:lpstr>Indecși single column versus indecși multi-column </vt:lpstr>
      <vt:lpstr>Indecși single column versus indecși multi-column </vt:lpstr>
      <vt:lpstr>Indecși single column versus indecși multi-column </vt:lpstr>
      <vt:lpstr>Full-table versus filtered pentru indecșii nonclustered</vt:lpstr>
      <vt:lpstr>Full-table versus filtered pentru indecșii nonclustered</vt:lpstr>
      <vt:lpstr>Indecși pentru DELETE</vt:lpstr>
      <vt:lpstr>Modificarea unui index</vt:lpstr>
      <vt:lpstr>Ștergerea unui index</vt:lpstr>
      <vt:lpstr>Indecși - Recomandări</vt:lpstr>
      <vt:lpstr>Recomandări de proiectare a indecșilor</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Indecși</dc:title>
  <dc:creator>Camelia Andor</dc:creator>
  <cp:lastModifiedBy>Camelia - Florina Andor</cp:lastModifiedBy>
  <cp:revision>115</cp:revision>
  <dcterms:created xsi:type="dcterms:W3CDTF">2023-11-23T23:37:43Z</dcterms:created>
  <dcterms:modified xsi:type="dcterms:W3CDTF">2025-11-24T23:37:48Z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0x010100C85E4EDB042A764384A34028A2E2DA7F</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