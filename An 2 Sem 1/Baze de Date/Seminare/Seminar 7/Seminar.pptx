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comments/modernComment_105_C8FD0CAD.xml" ContentType="application/vnd.ms-powerpoint.comments+xml"/>
  <Override PartName="/ppt/theme/theme3.xml" ContentType="application/vnd.openxmlformats-officedocument.theme+xml"/>
  <Override PartName="/ppt/theme/theme2.xml" ContentType="application/vnd.openxmlformats-officedocument.theme+xml"/>
  <Override PartName="/ppt/authors.xml" ContentType="application/vnd.ms-powerpoint.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33"/>
  </p:notesMasterIdLst>
  <p:handoutMasterIdLst>
    <p:handoutMasterId r:id="rId34"/>
  </p:handoutMasterIdLst>
  <p:sldIdLst>
    <p:sldId id="257" r:id="rId2"/>
    <p:sldId id="258" r:id="rId3"/>
    <p:sldId id="296" r:id="rId4"/>
    <p:sldId id="260" r:id="rId5"/>
    <p:sldId id="299" r:id="rId6"/>
    <p:sldId id="297" r:id="rId7"/>
    <p:sldId id="300" r:id="rId8"/>
    <p:sldId id="259" r:id="rId9"/>
    <p:sldId id="285" r:id="rId10"/>
    <p:sldId id="290" r:id="rId11"/>
    <p:sldId id="286" r:id="rId12"/>
    <p:sldId id="292" r:id="rId13"/>
    <p:sldId id="287" r:id="rId14"/>
    <p:sldId id="289" r:id="rId15"/>
    <p:sldId id="291" r:id="rId16"/>
    <p:sldId id="293" r:id="rId17"/>
    <p:sldId id="261" r:id="rId18"/>
    <p:sldId id="263" r:id="rId19"/>
    <p:sldId id="264" r:id="rId20"/>
    <p:sldId id="262" r:id="rId21"/>
    <p:sldId id="295" r:id="rId22"/>
    <p:sldId id="265" r:id="rId23"/>
    <p:sldId id="266" r:id="rId24"/>
    <p:sldId id="269" r:id="rId25"/>
    <p:sldId id="267" r:id="rId26"/>
    <p:sldId id="270" r:id="rId27"/>
    <p:sldId id="268" r:id="rId28"/>
    <p:sldId id="284" r:id="rId29"/>
    <p:sldId id="294" r:id="rId30"/>
    <p:sldId id="301" r:id="rId31"/>
    <p:sldId id="298" r:id="rId32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D2877D-E271-BF6C-3AE5-DDAD4A51C756}" name="Camelia Andor" initials="CA" userId="ddb6757ee1e8e3b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414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comments/modernComment_105_C8FD0C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200F2FF-028E-478B-AF33-AE929E473E8F}" authorId="{05D2877D-E271-BF6C-3AE5-DDAD4A51C756}" created="2024-01-07T21:35:29.8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72027053" sldId="261"/>
      <ac:spMk id="3" creationId="{00000000-0000-0000-0000-000000000000}"/>
    </ac:deMkLst>
    <p188:txBody>
      <a:bodyPr/>
      <a:lstStyle/>
      <a:p>
        <a:r>
          <a:rPr lang="ro-RO"/>
          <a:t>!!!În Microsoft SQL Server 2022 au fost introduși indecși clustered columnstore ordonați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0C55261-D00D-4531-85F2-7815D4272C20}" type="datetime1">
              <a:rPr lang="ro-RO" smtClean="0"/>
              <a:t>13.01.2026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02BA2C8-71FC-43D0-BD87-0547616971FA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2921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97A191-F9ED-44AA-AEE4-9E7ED26D0F78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539446-6953-447E-A4E3-E7CFBF870046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239292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pă3"/>
          <p:cNvSpPr/>
          <p:nvPr/>
        </p:nvSpPr>
        <p:spPr bwMode="gray">
          <a:xfrm>
            <a:off x="2552" y="5243129"/>
            <a:ext cx="12188952" cy="1614871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2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cer"/>
          <p:cNvSpPr/>
          <p:nvPr/>
        </p:nvSpPr>
        <p:spPr bwMode="white">
          <a:xfrm>
            <a:off x="2552" y="0"/>
            <a:ext cx="12188952" cy="5334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6" name="apă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ltGray">
          <a:xfrm>
            <a:off x="-1425" y="5497897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apă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221111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reptunghi 7"/>
          <p:cNvSpPr/>
          <p:nvPr/>
        </p:nvSpPr>
        <p:spPr>
          <a:xfrm>
            <a:off x="-1425" y="5961106"/>
            <a:ext cx="12188952" cy="896846"/>
          </a:xfrm>
          <a:prstGeom prst="rect">
            <a:avLst/>
          </a:prstGeom>
          <a:gradFill>
            <a:gsLst>
              <a:gs pos="25000">
                <a:schemeClr val="accent6">
                  <a:lumMod val="60000"/>
                  <a:lumOff val="40000"/>
                  <a:alpha val="0"/>
                </a:schemeClr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305872" y="1309047"/>
            <a:ext cx="9602789" cy="2667000"/>
          </a:xfrm>
        </p:spPr>
        <p:txBody>
          <a:bodyPr rtlCol="0" anchor="b">
            <a:noAutofit/>
          </a:bodyPr>
          <a:lstStyle>
            <a:lvl1pPr algn="ctr">
              <a:defRPr sz="600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05872" y="4038600"/>
            <a:ext cx="9601200" cy="9906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noProof="0"/>
              <a:t>Click to edit Master subtitle style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B0413-3825-4517-84C4-BC4D0AB13719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93813" y="1309047"/>
            <a:ext cx="9601252" cy="2667000"/>
          </a:xfrm>
        </p:spPr>
        <p:txBody>
          <a:bodyPr rtlCol="0" anchor="b">
            <a:normAutofit/>
          </a:bodyPr>
          <a:lstStyle>
            <a:lvl1pPr algn="ctr">
              <a:defRPr sz="6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293813" y="4038600"/>
            <a:ext cx="9601200" cy="1143000"/>
          </a:xfrm>
        </p:spPr>
        <p:txBody>
          <a:bodyPr rtlCol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057804-296C-404E-AB5A-AECE13AB895F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27888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134112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2983A4-6813-4B72-A61A-A17CFCC7D384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u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134112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627888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627888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0E1F3A-7531-4910-B6EB-58549CF60FD5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u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5A7078-7B7F-48B7-8822-93D7DA5E9327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D67F5C-FACA-46A7-A8EA-9CDEA26B0827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760413" y="685800"/>
            <a:ext cx="6858000" cy="4572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DC185D-BB37-4190-AD07-0A9F79920DF0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imagine 2" descr="Un substituent gol pentru a adăuga o imagine. Faceți clic pe substituent și selectați imaginea pe care doriți s-o adăugați"/>
          <p:cNvSpPr>
            <a:spLocks noGrp="1"/>
          </p:cNvSpPr>
          <p:nvPr>
            <p:ph type="pic" idx="1"/>
          </p:nvPr>
        </p:nvSpPr>
        <p:spPr>
          <a:xfrm>
            <a:off x="760413" y="685800"/>
            <a:ext cx="6858000" cy="457200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2CB56C-2BA1-4215-B6A3-04C489B091CB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C0E6F7-DBC8-44CA-A21F-7876F2AEC1C8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440362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440362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8C643B-5485-403E-8EBD-16244D488590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58000"/>
                </a:schemeClr>
              </a:gs>
              <a:gs pos="88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8" name="apă3"/>
          <p:cNvSpPr/>
          <p:nvPr/>
        </p:nvSpPr>
        <p:spPr bwMode="gray">
          <a:xfrm>
            <a:off x="2552" y="6064101"/>
            <a:ext cx="12188952" cy="793899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49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9" name="apă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white">
          <a:xfrm>
            <a:off x="-1425" y="6256181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apă1"/>
          <p:cNvPicPr>
            <a:picLocks noChangeAspect="1"/>
          </p:cNvPicPr>
          <p:nvPr/>
        </p:nvPicPr>
        <p:blipFill rotWithShape="1"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979395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1341120" y="265176"/>
            <a:ext cx="9509759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9509760" cy="414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5EF10CAA-0CF2-43FB-B8EE-A41EE9E83454}" type="datetime1">
              <a:rPr lang="ro-RO" noProof="0" smtClean="0"/>
              <a:t>13.01.2026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4FAB73BC-B049-4115-A692-8D63A059BFB8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8pPr>
      <a:lvl9pPr marL="2240280" indent="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None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C8FD0CAD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sql/relational-databases/indexes/ordered-columnstore-indexes?view=sql-server-ver17" TargetMode="External"/><Relationship Id="rId3" Type="http://schemas.openxmlformats.org/officeDocument/2006/relationships/hyperlink" Target="https://learn.microsoft.com/en-us/sql/relational-databases/indexes/columnstore-indexes-overview?view=sql-server-ver16" TargetMode="External"/><Relationship Id="rId7" Type="http://schemas.openxmlformats.org/officeDocument/2006/relationships/hyperlink" Target="https://learn.microsoft.com/en-us/sql/relational-databases/indexes/columnstore-indexes-design-guidance?view=sql-server-ver16" TargetMode="External"/><Relationship Id="rId2" Type="http://schemas.openxmlformats.org/officeDocument/2006/relationships/hyperlink" Target="https://learn.microsoft.com/en-us/sql/relational-databases/pages-and-extents-architecture-guide?view=sql-server-ver1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sql/relational-databases/views/views?view=sql-server-ver16" TargetMode="External"/><Relationship Id="rId5" Type="http://schemas.openxmlformats.org/officeDocument/2006/relationships/hyperlink" Target="https://learn.microsoft.com/en-us/sql/relational-databases/views/create-indexed-views?view=sql-server-ver16" TargetMode="External"/><Relationship Id="rId4" Type="http://schemas.openxmlformats.org/officeDocument/2006/relationships/hyperlink" Target="https://learn.microsoft.com/en-us/sql/t-sql/language-elements/case-transact-sql?view=sql-server-ver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View-</a:t>
            </a:r>
            <a:r>
              <a:rPr lang="en-US" sz="5400" dirty="0" err="1"/>
              <a:t>uri</a:t>
            </a:r>
            <a:r>
              <a:rPr lang="en-US" sz="5400" dirty="0"/>
              <a:t> </a:t>
            </a:r>
            <a:r>
              <a:rPr lang="en-US" sz="5400" dirty="0" err="1"/>
              <a:t>indexate</a:t>
            </a:r>
            <a:r>
              <a:rPr lang="en-US" sz="5400" dirty="0"/>
              <a:t>. </a:t>
            </a:r>
            <a:br>
              <a:rPr lang="ro-RO" sz="5400" dirty="0"/>
            </a:br>
            <a:r>
              <a:rPr lang="ro-RO" sz="5400" dirty="0"/>
              <a:t>Indecși Columnstore</a:t>
            </a:r>
            <a:r>
              <a:rPr lang="en-US" sz="5400" dirty="0"/>
              <a:t>. </a:t>
            </a:r>
            <a:r>
              <a:rPr lang="en-US" sz="5400" dirty="0" err="1"/>
              <a:t>Fragmentare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Seminar </a:t>
            </a:r>
            <a:r>
              <a:rPr lang="ro-RO" dirty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7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>
                <a:latin typeface="+mn-lt"/>
              </a:rPr>
              <a:t>indexate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36087"/>
            <a:ext cx="10448426" cy="4514045"/>
          </a:xfrm>
        </p:spPr>
        <p:txBody>
          <a:bodyPr>
            <a:normAutofit/>
          </a:bodyPr>
          <a:lstStyle/>
          <a:p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b="1" dirty="0"/>
              <a:t>index clustered </a:t>
            </a:r>
            <a:r>
              <a:rPr lang="en-US" dirty="0"/>
              <a:t>pe un </a:t>
            </a:r>
            <a:r>
              <a:rPr lang="en-US" b="1" dirty="0"/>
              <a:t>view</a:t>
            </a:r>
            <a:r>
              <a:rPr lang="en-US" dirty="0"/>
              <a:t> </a:t>
            </a:r>
            <a:r>
              <a:rPr lang="ro-RO" dirty="0"/>
              <a:t>îmbunătățește performanța interogărilor deoarece view-ul este stocat în baza de date în aceeași manieră în care este stocat un </a:t>
            </a:r>
            <a:r>
              <a:rPr lang="ro-RO" b="1" dirty="0"/>
              <a:t>tabel pe care este definit un index clustered  </a:t>
            </a:r>
          </a:p>
          <a:p>
            <a:r>
              <a:rPr lang="ro-RO" b="1" dirty="0"/>
              <a:t>Optimizatorul</a:t>
            </a:r>
            <a:r>
              <a:rPr lang="ro-RO" dirty="0"/>
              <a:t> (</a:t>
            </a:r>
            <a:r>
              <a:rPr lang="ro-RO" i="1" dirty="0"/>
              <a:t>query optimizer</a:t>
            </a:r>
            <a:r>
              <a:rPr lang="ro-RO" dirty="0"/>
              <a:t>) poate folosi view-uri indexate pentru a </a:t>
            </a:r>
            <a:r>
              <a:rPr lang="ro-RO" b="1" dirty="0"/>
              <a:t>mări</a:t>
            </a:r>
            <a:r>
              <a:rPr lang="ro-RO" dirty="0"/>
              <a:t> viteza de execuție a </a:t>
            </a:r>
            <a:r>
              <a:rPr lang="ro-RO" b="1" dirty="0"/>
              <a:t>interogărilor</a:t>
            </a:r>
          </a:p>
          <a:p>
            <a:r>
              <a:rPr lang="ro-RO" dirty="0"/>
              <a:t>View-ul nu trebuie să fie referit în interogare pentru ca optimizatorul să ia în co</a:t>
            </a:r>
            <a:r>
              <a:rPr lang="en-US" dirty="0"/>
              <a:t>n</a:t>
            </a:r>
            <a:r>
              <a:rPr lang="ro-RO" dirty="0"/>
              <a:t>siderare acel view</a:t>
            </a:r>
          </a:p>
        </p:txBody>
      </p:sp>
    </p:spTree>
    <p:extLst>
      <p:ext uri="{BB962C8B-B14F-4D97-AF65-F5344CB8AC3E}">
        <p14:creationId xmlns:p14="http://schemas.microsoft.com/office/powerpoint/2010/main" val="142660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View-</a:t>
            </a:r>
            <a:r>
              <a:rPr lang="en-US" dirty="0" err="1">
                <a:latin typeface="+mn-lt"/>
              </a:rPr>
              <a:t>uri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indexate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29555"/>
            <a:ext cx="10253117" cy="5163269"/>
          </a:xfrm>
        </p:spPr>
        <p:txBody>
          <a:bodyPr>
            <a:normAutofit/>
          </a:bodyPr>
          <a:lstStyle/>
          <a:p>
            <a:r>
              <a:rPr lang="ro-RO" dirty="0"/>
              <a:t>Pentru a putea crea un </a:t>
            </a:r>
            <a:r>
              <a:rPr lang="ro-RO" b="1" dirty="0" err="1"/>
              <a:t>view</a:t>
            </a:r>
            <a:r>
              <a:rPr lang="ro-RO" b="1" dirty="0"/>
              <a:t> indexat</a:t>
            </a:r>
            <a:r>
              <a:rPr lang="ro-RO" dirty="0"/>
              <a:t>, trebuie să creăm în primul rând un </a:t>
            </a:r>
            <a:r>
              <a:rPr lang="ro-RO" dirty="0" err="1"/>
              <a:t>view</a:t>
            </a:r>
            <a:r>
              <a:rPr lang="ro-RO" dirty="0"/>
              <a:t> cu opțiunea </a:t>
            </a:r>
            <a:r>
              <a:rPr lang="ro-RO" b="1" dirty="0"/>
              <a:t>WITH SCHEMABINDING </a:t>
            </a:r>
          </a:p>
          <a:p>
            <a:r>
              <a:rPr lang="ro-RO" dirty="0"/>
              <a:t>După ce am creat view-ul cu opțiunea </a:t>
            </a:r>
            <a:r>
              <a:rPr lang="ro-RO" b="1" dirty="0"/>
              <a:t>WITH SCHEMABINDING</a:t>
            </a:r>
            <a:r>
              <a:rPr lang="ro-RO" dirty="0"/>
              <a:t>, vom crea un </a:t>
            </a:r>
            <a:r>
              <a:rPr lang="ro-RO" b="1" dirty="0"/>
              <a:t>index clustered unic</a:t>
            </a:r>
            <a:r>
              <a:rPr lang="ro-RO" dirty="0"/>
              <a:t> pe acest view</a:t>
            </a:r>
          </a:p>
          <a:p>
            <a:r>
              <a:rPr lang="ro-RO" dirty="0"/>
              <a:t>După acest pas, </a:t>
            </a:r>
            <a:r>
              <a:rPr lang="ro-RO" dirty="0" err="1"/>
              <a:t>view-ul</a:t>
            </a:r>
            <a:r>
              <a:rPr lang="ro-RO" dirty="0"/>
              <a:t> devine un </a:t>
            </a:r>
            <a:r>
              <a:rPr lang="ro-RO" b="1" dirty="0" err="1"/>
              <a:t>view</a:t>
            </a:r>
            <a:r>
              <a:rPr lang="ro-RO" b="1" dirty="0"/>
              <a:t> indexat</a:t>
            </a:r>
            <a:r>
              <a:rPr lang="ro-RO" dirty="0"/>
              <a:t>, adică </a:t>
            </a:r>
            <a:r>
              <a:rPr lang="ro-RO" b="1" dirty="0"/>
              <a:t>un </a:t>
            </a:r>
            <a:r>
              <a:rPr lang="ro-RO" b="1" dirty="0" err="1"/>
              <a:t>view</a:t>
            </a:r>
            <a:r>
              <a:rPr lang="ro-RO" b="1" dirty="0"/>
              <a:t> care conține date</a:t>
            </a:r>
          </a:p>
          <a:p>
            <a:r>
              <a:rPr lang="ro-RO" dirty="0"/>
              <a:t>Putem crea și </a:t>
            </a:r>
            <a:r>
              <a:rPr lang="ro-RO" b="1" dirty="0"/>
              <a:t>alți indecși </a:t>
            </a:r>
            <a:r>
              <a:rPr lang="ro-RO" b="1" dirty="0" err="1"/>
              <a:t>nonclustered</a:t>
            </a:r>
            <a:r>
              <a:rPr lang="ro-RO" b="1" dirty="0"/>
              <a:t> </a:t>
            </a:r>
            <a:r>
              <a:rPr lang="ro-RO" dirty="0"/>
              <a:t>pe </a:t>
            </a:r>
            <a:r>
              <a:rPr lang="ro-RO" b="1" dirty="0" err="1"/>
              <a:t>view-ul</a:t>
            </a:r>
            <a:r>
              <a:rPr lang="ro-RO" b="1" dirty="0"/>
              <a:t> indexat</a:t>
            </a:r>
          </a:p>
          <a:p>
            <a:r>
              <a:rPr lang="ro-RO" dirty="0"/>
              <a:t>Clauza </a:t>
            </a:r>
            <a:r>
              <a:rPr lang="ro-RO" b="1" dirty="0"/>
              <a:t>SCHEMABINDING </a:t>
            </a:r>
            <a:r>
              <a:rPr lang="ro-RO" dirty="0"/>
              <a:t>previne orice modificare a tabelelor referite în </a:t>
            </a:r>
            <a:r>
              <a:rPr lang="ro-RO" dirty="0" err="1"/>
              <a:t>view</a:t>
            </a:r>
            <a:r>
              <a:rPr lang="ro-RO" dirty="0"/>
              <a:t> care ar afecta definiția </a:t>
            </a:r>
            <a:r>
              <a:rPr lang="ro-RO" dirty="0" err="1"/>
              <a:t>view</a:t>
            </a:r>
            <a:r>
              <a:rPr lang="ro-RO" dirty="0"/>
              <a:t>-ului</a:t>
            </a:r>
          </a:p>
          <a:p>
            <a:r>
              <a:rPr lang="ro-RO" dirty="0"/>
              <a:t>Dacă este folosită clauza </a:t>
            </a:r>
            <a:r>
              <a:rPr lang="ro-RO" b="1" dirty="0"/>
              <a:t>SCHEMABINDING</a:t>
            </a:r>
            <a:r>
              <a:rPr lang="ro-RO" dirty="0"/>
              <a:t>, instrucțiunea SELECT din definiția </a:t>
            </a:r>
            <a:r>
              <a:rPr lang="ro-RO" dirty="0" err="1"/>
              <a:t>view</a:t>
            </a:r>
            <a:r>
              <a:rPr lang="ro-RO" dirty="0"/>
              <a:t>-ului va conține în mod </a:t>
            </a:r>
            <a:r>
              <a:rPr lang="en-US" dirty="0" err="1"/>
              <a:t>obligatoriu</a:t>
            </a:r>
            <a:r>
              <a:rPr lang="en-US" dirty="0"/>
              <a:t> </a:t>
            </a:r>
            <a:r>
              <a:rPr lang="ro-RO" dirty="0"/>
              <a:t>numele tabelelor, </a:t>
            </a:r>
            <a:r>
              <a:rPr lang="ro-RO" dirty="0" err="1"/>
              <a:t>view</a:t>
            </a:r>
            <a:r>
              <a:rPr lang="ro-RO" dirty="0"/>
              <a:t>-urilor sau funcțiilor definite de către utilizator în format </a:t>
            </a:r>
            <a:r>
              <a:rPr lang="en-US" b="1" dirty="0"/>
              <a:t>‘</a:t>
            </a:r>
            <a:r>
              <a:rPr lang="en-US" b="1" dirty="0" err="1"/>
              <a:t>nume_schem</a:t>
            </a:r>
            <a:r>
              <a:rPr lang="ro-RO" b="1" dirty="0" err="1"/>
              <a:t>ă.nume_obiect</a:t>
            </a:r>
            <a:r>
              <a:rPr lang="en-US" b="1" dirty="0"/>
              <a:t>’</a:t>
            </a:r>
            <a:endParaRPr lang="ro-RO" b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2212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View-</a:t>
            </a:r>
            <a:r>
              <a:rPr lang="en-US" dirty="0" err="1">
                <a:latin typeface="+mn-lt"/>
              </a:rPr>
              <a:t>uri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indexate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129" y="1470734"/>
            <a:ext cx="10080964" cy="4232856"/>
          </a:xfrm>
        </p:spPr>
        <p:txBody>
          <a:bodyPr/>
          <a:lstStyle/>
          <a:p>
            <a:r>
              <a:rPr lang="ro-RO" dirty="0"/>
              <a:t>Pentru a ne asigura că un </a:t>
            </a:r>
            <a:r>
              <a:rPr lang="ro-RO" dirty="0" err="1"/>
              <a:t>view</a:t>
            </a:r>
            <a:r>
              <a:rPr lang="ro-RO" dirty="0"/>
              <a:t> indexat este întreținut corect și va returna rezultate consistente, sunt necesare anumite valori fixe pentru următoarele opțiuni SET: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769158"/>
              </p:ext>
            </p:extLst>
          </p:nvPr>
        </p:nvGraphicFramePr>
        <p:xfrm>
          <a:off x="1825680" y="2315812"/>
          <a:ext cx="8534561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97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7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SET options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Required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Default server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ANSI_NULLS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ANSI_PADDING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ANSI_WARNINGS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ARITHABORT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CONCAT_NULL_YIELDS_NULL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NUMERIC_ROUNDABORT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OFF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OFF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QUOTED_IDENTIFIER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44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948A-24FB-DF91-B526-935DABB5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View-uri indexate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C2EAD-B61C-A66F-B2A9-6E7DEBDC2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8"/>
            <a:ext cx="10128830" cy="5020056"/>
          </a:xfrm>
        </p:spPr>
        <p:txBody>
          <a:bodyPr>
            <a:normAutofit/>
          </a:bodyPr>
          <a:lstStyle/>
          <a:p>
            <a:r>
              <a:rPr lang="ro-RO" dirty="0"/>
              <a:t>Următoarele trei tabele (</a:t>
            </a:r>
            <a:r>
              <a:rPr lang="ro-RO" i="1" dirty="0"/>
              <a:t>Produse</a:t>
            </a:r>
            <a:r>
              <a:rPr lang="ro-RO" dirty="0"/>
              <a:t>, </a:t>
            </a:r>
            <a:r>
              <a:rPr lang="ro-RO" i="1" dirty="0"/>
              <a:t>Note</a:t>
            </a:r>
            <a:r>
              <a:rPr lang="ro-RO" dirty="0"/>
              <a:t>, </a:t>
            </a:r>
            <a:r>
              <a:rPr lang="ro-RO" i="1" dirty="0"/>
              <a:t>Clienți</a:t>
            </a:r>
            <a:r>
              <a:rPr lang="ro-RO" dirty="0"/>
              <a:t>) vor fi folosite ulterior în definiția unui view indexat: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1D71AC-7FEA-C01F-596E-FDDB3EEB2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71" y="2384348"/>
            <a:ext cx="7381875" cy="26574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30183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>
                <a:latin typeface="+mn-lt"/>
              </a:rPr>
              <a:t>View</a:t>
            </a:r>
            <a:r>
              <a:rPr lang="ro-RO" dirty="0">
                <a:latin typeface="+mn-lt"/>
              </a:rPr>
              <a:t>-uri indexate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618" y="1506244"/>
            <a:ext cx="10693524" cy="5160885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Exemplu</a:t>
            </a:r>
            <a:r>
              <a:rPr lang="ro-RO" dirty="0"/>
              <a:t> de c</a:t>
            </a:r>
            <a:r>
              <a:rPr lang="en-US" dirty="0" err="1"/>
              <a:t>reare</a:t>
            </a:r>
            <a:r>
              <a:rPr lang="ro-RO" dirty="0"/>
              <a:t> </a:t>
            </a:r>
            <a:r>
              <a:rPr lang="en-US" dirty="0"/>
              <a:t>a </a:t>
            </a:r>
            <a:r>
              <a:rPr lang="en-US" dirty="0" err="1"/>
              <a:t>unui</a:t>
            </a:r>
            <a:r>
              <a:rPr lang="en-US" dirty="0"/>
              <a:t> view </a:t>
            </a:r>
            <a:r>
              <a:rPr lang="en-US" dirty="0" err="1"/>
              <a:t>indexat</a:t>
            </a:r>
            <a:r>
              <a:rPr lang="ro-RO" dirty="0"/>
              <a:t>:</a:t>
            </a:r>
            <a:endParaRPr lang="en-US" dirty="0"/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 Definirea view-ului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vw_NoteProduse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WITH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SCHEMABINDING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dată_evaluare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P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nume_produs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	dbo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Clienți C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endParaRPr lang="ro-RO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cod_p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cod_p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	</a:t>
            </a:r>
            <a:endParaRPr lang="ro-RO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	-- Definirea indexului clustered unic 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UNIQUE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CLUSTERED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INDEX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IX_vw_NoteProduse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vw_NoteProduse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nume_produs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GO </a:t>
            </a:r>
          </a:p>
          <a:p>
            <a:r>
              <a:rPr lang="en-US" dirty="0">
                <a:solidFill>
                  <a:srgbClr val="FF0000"/>
                </a:solidFill>
              </a:rPr>
              <a:t>!!!</a:t>
            </a:r>
            <a:r>
              <a:rPr lang="ro-RO" dirty="0">
                <a:solidFill>
                  <a:srgbClr val="FF0000"/>
                </a:solidFill>
              </a:rPr>
              <a:t>Un view indexat poate referi doar tabele care aparțin bazei de date în care se află view-ul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57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9A44-8AD0-9F79-6C02-A7368517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View-uri indexate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30FE7-320E-53D5-BA89-4D9EF4180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8"/>
            <a:ext cx="9951276" cy="4890176"/>
          </a:xfrm>
        </p:spPr>
        <p:txBody>
          <a:bodyPr/>
          <a:lstStyle/>
          <a:p>
            <a:r>
              <a:rPr lang="ro-RO" dirty="0"/>
              <a:t>Exemplu de interogare a view-ului indexat: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vw_NoteProduse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WITH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NOEXPAND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endParaRPr lang="en-US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!!!</a:t>
            </a:r>
            <a:r>
              <a:rPr lang="ro-RO" dirty="0">
                <a:solidFill>
                  <a:srgbClr val="FF0000"/>
                </a:solidFill>
              </a:rPr>
              <a:t>Dacă </a:t>
            </a:r>
            <a:r>
              <a:rPr lang="ro-RO" b="1" dirty="0">
                <a:solidFill>
                  <a:srgbClr val="FF0000"/>
                </a:solidFill>
              </a:rPr>
              <a:t>nu</a:t>
            </a:r>
            <a:r>
              <a:rPr lang="ro-RO" dirty="0">
                <a:solidFill>
                  <a:srgbClr val="FF0000"/>
                </a:solidFill>
              </a:rPr>
              <a:t> folosim versiunea Microsoft SQL Server Enterprise, </a:t>
            </a:r>
            <a:r>
              <a:rPr lang="en-US" dirty="0" err="1">
                <a:solidFill>
                  <a:srgbClr val="FF0000"/>
                </a:solidFill>
              </a:rPr>
              <a:t>poate</a:t>
            </a:r>
            <a:r>
              <a:rPr lang="en-US" dirty="0">
                <a:solidFill>
                  <a:srgbClr val="FF0000"/>
                </a:solidFill>
              </a:rPr>
              <a:t> fi</a:t>
            </a:r>
            <a:r>
              <a:rPr lang="ro-RO" dirty="0">
                <a:solidFill>
                  <a:srgbClr val="FF0000"/>
                </a:solidFill>
              </a:rPr>
              <a:t> necesar să specificăm hint-ul NOEXPAND în interogare, dacă dorim să fie utilizat view-ul indexat în cadrul execuției interogării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9E09E-4FFA-3050-ABDF-4BD7B5692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40" y="2540678"/>
            <a:ext cx="4698830" cy="231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3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View-</a:t>
            </a:r>
            <a:r>
              <a:rPr lang="en-US" dirty="0" err="1">
                <a:latin typeface="+mn-lt"/>
              </a:rPr>
              <a:t>uri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indexate</a:t>
            </a:r>
            <a:r>
              <a:rPr lang="en-US" dirty="0">
                <a:latin typeface="+mn-lt"/>
              </a:rPr>
              <a:t> – </a:t>
            </a:r>
            <a:r>
              <a:rPr lang="en-US" dirty="0" err="1">
                <a:latin typeface="+mn-lt"/>
              </a:rPr>
              <a:t>Restric</a:t>
            </a:r>
            <a:r>
              <a:rPr lang="ro-RO" dirty="0">
                <a:latin typeface="+mn-lt"/>
              </a:rPr>
              <a:t>ții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40" y="1479610"/>
            <a:ext cx="10223007" cy="4876801"/>
          </a:xfrm>
        </p:spPr>
        <p:txBody>
          <a:bodyPr>
            <a:normAutofit/>
          </a:bodyPr>
          <a:lstStyle/>
          <a:p>
            <a:r>
              <a:rPr lang="ro-RO" dirty="0"/>
              <a:t>Instrucțiunea SELECT din definiția </a:t>
            </a:r>
            <a:r>
              <a:rPr lang="ro-RO" dirty="0" err="1"/>
              <a:t>view</a:t>
            </a:r>
            <a:r>
              <a:rPr lang="ro-RO" dirty="0"/>
              <a:t>-ului</a:t>
            </a:r>
            <a:r>
              <a:rPr lang="en-US" dirty="0"/>
              <a:t> </a:t>
            </a:r>
            <a:r>
              <a:rPr lang="en-US" dirty="0" err="1"/>
              <a:t>indexat</a:t>
            </a:r>
            <a:r>
              <a:rPr lang="ro-RO" dirty="0"/>
              <a:t> </a:t>
            </a:r>
            <a:r>
              <a:rPr lang="ro-RO" b="1" dirty="0"/>
              <a:t>nu</a:t>
            </a:r>
            <a:r>
              <a:rPr lang="ro-RO" dirty="0"/>
              <a:t> poate conține următoarele:</a:t>
            </a:r>
          </a:p>
          <a:p>
            <a:pPr lvl="1"/>
            <a:r>
              <a:rPr lang="ro-RO" dirty="0"/>
              <a:t>OUTER JOINS</a:t>
            </a:r>
          </a:p>
          <a:p>
            <a:pPr lvl="1"/>
            <a:r>
              <a:rPr lang="ro-RO" dirty="0"/>
              <a:t>SELF JOINS</a:t>
            </a:r>
          </a:p>
          <a:p>
            <a:pPr lvl="1"/>
            <a:r>
              <a:rPr lang="ro-RO" dirty="0"/>
              <a:t>Subinterogări</a:t>
            </a:r>
          </a:p>
          <a:p>
            <a:pPr lvl="1"/>
            <a:r>
              <a:rPr lang="ro-RO" dirty="0"/>
              <a:t>EXCEPT, INTERSECT, UNION</a:t>
            </a:r>
          </a:p>
          <a:p>
            <a:pPr lvl="1"/>
            <a:r>
              <a:rPr lang="ro-RO" dirty="0"/>
              <a:t>TOP</a:t>
            </a:r>
          </a:p>
          <a:p>
            <a:pPr lvl="1"/>
            <a:r>
              <a:rPr lang="ro-RO" dirty="0"/>
              <a:t>DISTINCT</a:t>
            </a:r>
          </a:p>
          <a:p>
            <a:pPr lvl="1"/>
            <a:r>
              <a:rPr lang="ro-RO" dirty="0"/>
              <a:t>ORDER BY</a:t>
            </a:r>
          </a:p>
          <a:p>
            <a:pPr lvl="1"/>
            <a:r>
              <a:rPr lang="ro-RO" dirty="0"/>
              <a:t>COUNT, MIN, MAX, </a:t>
            </a:r>
            <a:r>
              <a:rPr lang="en-US" dirty="0"/>
              <a:t>STDEV, STDEVP, VAR, VARP,</a:t>
            </a:r>
            <a:r>
              <a:rPr lang="ro-RO" dirty="0"/>
              <a:t> AVG, </a:t>
            </a:r>
            <a:r>
              <a:rPr lang="en-US" dirty="0"/>
              <a:t>CHECKSUM_AGG</a:t>
            </a:r>
            <a:endParaRPr lang="ro-RO" dirty="0"/>
          </a:p>
          <a:p>
            <a:pPr lvl="1"/>
            <a:r>
              <a:rPr lang="ro-RO" dirty="0"/>
              <a:t>Funcții nedeterministe</a:t>
            </a:r>
          </a:p>
          <a:p>
            <a:pPr lvl="1"/>
            <a:r>
              <a:rPr lang="ro-RO" dirty="0"/>
              <a:t>Tabele derivate (specificate cu ajutorul unei instrucțiuni SELECT în clauza FROM)</a:t>
            </a:r>
          </a:p>
          <a:p>
            <a:pPr lvl="1"/>
            <a:r>
              <a:rPr lang="ro-RO" dirty="0"/>
              <a:t>Variabile tabel </a:t>
            </a:r>
            <a:endParaRPr lang="en-US" dirty="0"/>
          </a:p>
          <a:p>
            <a:pPr lvl="1"/>
            <a:r>
              <a:rPr lang="en-US" dirty="0"/>
              <a:t>View-</a:t>
            </a:r>
            <a:r>
              <a:rPr lang="en-US" dirty="0" err="1"/>
              <a:t>uri</a:t>
            </a:r>
            <a:endParaRPr lang="ro-R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81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D465-7F15-4373-991D-2A7504C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CB8B-94FB-49B8-AD30-0D7E7469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374" y="1488488"/>
            <a:ext cx="10471581" cy="4796901"/>
          </a:xfrm>
        </p:spPr>
        <p:txBody>
          <a:bodyPr/>
          <a:lstStyle/>
          <a:p>
            <a:r>
              <a:rPr lang="en-US" dirty="0"/>
              <a:t>O </a:t>
            </a:r>
            <a:r>
              <a:rPr lang="en-US" b="1" dirty="0" err="1"/>
              <a:t>expresie</a:t>
            </a:r>
            <a:r>
              <a:rPr lang="en-US" b="1" dirty="0"/>
              <a:t> CASE </a:t>
            </a:r>
            <a:r>
              <a:rPr lang="en-US" dirty="0" err="1"/>
              <a:t>evalueaz</a:t>
            </a:r>
            <a:r>
              <a:rPr lang="ro-RO" dirty="0"/>
              <a:t>ă o listă de condiții și returnează una din multiplele expresii rezultat posibile</a:t>
            </a:r>
          </a:p>
          <a:p>
            <a:r>
              <a:rPr lang="ro-RO" b="1" dirty="0"/>
              <a:t>CASE</a:t>
            </a:r>
            <a:r>
              <a:rPr lang="ro-RO" dirty="0"/>
              <a:t> poate fi specificat în instrucțiuni SELECT, UPDATE, DELETE, SET dar și în clauzele WHERE, IN, HAVING și ORDER BY</a:t>
            </a:r>
          </a:p>
          <a:p>
            <a:r>
              <a:rPr lang="ro-RO" dirty="0"/>
              <a:t>Expresia CASE are </a:t>
            </a:r>
            <a:r>
              <a:rPr lang="ro-RO" b="1" dirty="0"/>
              <a:t>două</a:t>
            </a:r>
            <a:r>
              <a:rPr lang="ro-RO" dirty="0"/>
              <a:t> variante:</a:t>
            </a:r>
          </a:p>
          <a:p>
            <a:pPr lvl="1"/>
            <a:r>
              <a:rPr lang="ro-RO" b="1" dirty="0"/>
              <a:t>Simple CASE </a:t>
            </a:r>
            <a:r>
              <a:rPr lang="ro-RO" dirty="0"/>
              <a:t>(care compară o expresie cu o mulțime de expresii simple pentru a determina rezultatul)</a:t>
            </a:r>
          </a:p>
          <a:p>
            <a:pPr lvl="1"/>
            <a:r>
              <a:rPr lang="ro-RO" b="1" dirty="0"/>
              <a:t>Searched CASE </a:t>
            </a:r>
            <a:r>
              <a:rPr lang="ro-RO" dirty="0"/>
              <a:t>(care evaluează o mulțime de expresii booleene pentru a determina rezultatul)</a:t>
            </a:r>
          </a:p>
          <a:p>
            <a:r>
              <a:rPr lang="ro-RO" dirty="0"/>
              <a:t>Pentru ambele variante se poate specifica și </a:t>
            </a:r>
            <a:r>
              <a:rPr lang="ro-RO" b="1" dirty="0"/>
              <a:t>ELSE</a:t>
            </a:r>
            <a:r>
              <a:rPr lang="ro-RO" dirty="0"/>
              <a:t> (care este opțional)</a:t>
            </a:r>
          </a:p>
        </p:txBody>
      </p:sp>
    </p:spTree>
    <p:extLst>
      <p:ext uri="{BB962C8B-B14F-4D97-AF65-F5344CB8AC3E}">
        <p14:creationId xmlns:p14="http://schemas.microsoft.com/office/powerpoint/2010/main" val="272063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D465-7F15-4373-991D-2A7504C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CB8B-94FB-49B8-AD30-0D7E7469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2251" y="1426346"/>
            <a:ext cx="10276273" cy="5027720"/>
          </a:xfrm>
        </p:spPr>
        <p:txBody>
          <a:bodyPr/>
          <a:lstStyle/>
          <a:p>
            <a:r>
              <a:rPr lang="en-US" dirty="0" err="1"/>
              <a:t>Sintaxa</a:t>
            </a:r>
            <a:r>
              <a:rPr lang="ro-RO" dirty="0"/>
              <a:t> expresiei </a:t>
            </a:r>
            <a:r>
              <a:rPr lang="ro-RO" b="1" dirty="0"/>
              <a:t>simple CASE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CASE </a:t>
            </a:r>
            <a:r>
              <a:rPr lang="en-US" dirty="0" err="1">
                <a:latin typeface="Consolas" panose="020B0609020204030204" pitchFamily="49" charset="0"/>
              </a:rPr>
              <a:t>input_expression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WHEN </a:t>
            </a:r>
            <a:r>
              <a:rPr lang="en-US" dirty="0" err="1">
                <a:latin typeface="Consolas" panose="020B0609020204030204" pitchFamily="49" charset="0"/>
              </a:rPr>
              <a:t>when_expression</a:t>
            </a:r>
            <a:r>
              <a:rPr lang="en-US" dirty="0">
                <a:latin typeface="Consolas" panose="020B0609020204030204" pitchFamily="49" charset="0"/>
              </a:rPr>
              <a:t> THEN </a:t>
            </a:r>
            <a:r>
              <a:rPr lang="en-US" dirty="0" err="1">
                <a:latin typeface="Consolas" panose="020B0609020204030204" pitchFamily="49" charset="0"/>
              </a:rPr>
              <a:t>result_expression</a:t>
            </a:r>
            <a:r>
              <a:rPr lang="en-US" dirty="0">
                <a:latin typeface="Consolas" panose="020B0609020204030204" pitchFamily="49" charset="0"/>
              </a:rPr>
              <a:t> [ ...n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ELSE </a:t>
            </a:r>
            <a:r>
              <a:rPr lang="en-US" dirty="0" err="1">
                <a:latin typeface="Consolas" panose="020B0609020204030204" pitchFamily="49" charset="0"/>
              </a:rPr>
              <a:t>else_result_expression</a:t>
            </a:r>
            <a:r>
              <a:rPr lang="en-US" dirty="0">
                <a:latin typeface="Consolas" panose="020B0609020204030204" pitchFamily="49" charset="0"/>
              </a:rPr>
              <a:t>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END </a:t>
            </a:r>
          </a:p>
          <a:p>
            <a:r>
              <a:rPr lang="ro-RO" dirty="0"/>
              <a:t>Expresia </a:t>
            </a:r>
            <a:r>
              <a:rPr lang="ro-RO" b="1" dirty="0"/>
              <a:t>simple CASE</a:t>
            </a:r>
            <a:r>
              <a:rPr lang="en-US" b="1" dirty="0"/>
              <a:t> </a:t>
            </a:r>
            <a:r>
              <a:rPr lang="en-US" dirty="0" err="1"/>
              <a:t>func</a:t>
            </a:r>
            <a:r>
              <a:rPr lang="ro-RO" dirty="0"/>
              <a:t>ționează astfel:</a:t>
            </a:r>
          </a:p>
          <a:p>
            <a:pPr lvl="1"/>
            <a:r>
              <a:rPr lang="ro-RO" sz="2000" dirty="0"/>
              <a:t>Se compară prima expresie cu expresia din fiecare clauză </a:t>
            </a:r>
            <a:r>
              <a:rPr lang="ro-RO" sz="2000" b="1" dirty="0"/>
              <a:t>WHEN</a:t>
            </a:r>
            <a:r>
              <a:rPr lang="ro-RO" sz="2000" dirty="0"/>
              <a:t> specificată (se verifică echivalența)</a:t>
            </a:r>
            <a:r>
              <a:rPr lang="ro-RO" sz="2000" b="1" dirty="0"/>
              <a:t> </a:t>
            </a:r>
          </a:p>
          <a:p>
            <a:pPr lvl="1"/>
            <a:r>
              <a:rPr lang="ro-RO" sz="2000" dirty="0"/>
              <a:t>Dacă expresiile sunt echivalente, se va returna expresia din clauza </a:t>
            </a:r>
            <a:r>
              <a:rPr lang="ro-RO" sz="2000" b="1" dirty="0"/>
              <a:t>THEN</a:t>
            </a:r>
            <a:endParaRPr lang="en-US" sz="20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2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D465-7F15-4373-991D-2A7504C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CB8B-94FB-49B8-AD30-0D7E7469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497367"/>
            <a:ext cx="10208729" cy="4419600"/>
          </a:xfrm>
        </p:spPr>
        <p:txBody>
          <a:bodyPr>
            <a:normAutofit/>
          </a:bodyPr>
          <a:lstStyle/>
          <a:p>
            <a:r>
              <a:rPr lang="en-US" dirty="0"/>
              <a:t>Este </a:t>
            </a:r>
            <a:r>
              <a:rPr lang="en-US" dirty="0" err="1"/>
              <a:t>permis</a:t>
            </a:r>
            <a:r>
              <a:rPr lang="ro-RO" dirty="0"/>
              <a:t>ă doar o verificare de </a:t>
            </a:r>
            <a:r>
              <a:rPr lang="ro-RO" b="1" dirty="0"/>
              <a:t>egalitate</a:t>
            </a:r>
          </a:p>
          <a:p>
            <a:r>
              <a:rPr lang="ro-RO" dirty="0"/>
              <a:t>Pentru fiecare clauză </a:t>
            </a:r>
            <a:r>
              <a:rPr lang="ro-RO" b="1" dirty="0"/>
              <a:t>WHEN</a:t>
            </a:r>
            <a:r>
              <a:rPr lang="ro-RO" dirty="0"/>
              <a:t> specificată, se evaluează </a:t>
            </a:r>
            <a:r>
              <a:rPr lang="ro-RO" b="1" dirty="0"/>
              <a:t>input_expression = when_expression</a:t>
            </a:r>
            <a:r>
              <a:rPr lang="ro-RO" dirty="0"/>
              <a:t> (în ordinea specificată)</a:t>
            </a:r>
          </a:p>
          <a:p>
            <a:r>
              <a:rPr lang="ro-RO" dirty="0"/>
              <a:t>Se returnează </a:t>
            </a:r>
            <a:r>
              <a:rPr lang="ro-RO" b="1" dirty="0"/>
              <a:t>result_expression </a:t>
            </a:r>
            <a:r>
              <a:rPr lang="ro-RO" dirty="0"/>
              <a:t>ce corespunde </a:t>
            </a:r>
            <a:r>
              <a:rPr lang="ro-RO" b="1" dirty="0"/>
              <a:t>primei comparații input_expression = when_expression </a:t>
            </a:r>
            <a:r>
              <a:rPr lang="ro-RO" dirty="0"/>
              <a:t>evaluate ca </a:t>
            </a:r>
            <a:r>
              <a:rPr lang="ro-RO" b="1" dirty="0"/>
              <a:t>TRUE </a:t>
            </a:r>
          </a:p>
          <a:p>
            <a:r>
              <a:rPr lang="ro-RO" dirty="0"/>
              <a:t>Dacă </a:t>
            </a:r>
            <a:r>
              <a:rPr lang="ro-RO" dirty="0">
                <a:highlight>
                  <a:srgbClr val="FFFF00"/>
                </a:highlight>
              </a:rPr>
              <a:t>niciuna</a:t>
            </a:r>
            <a:r>
              <a:rPr lang="ro-RO" dirty="0"/>
              <a:t> dintre comparații </a:t>
            </a:r>
            <a:r>
              <a:rPr lang="ro-RO" b="1" dirty="0"/>
              <a:t>nu</a:t>
            </a:r>
            <a:r>
              <a:rPr lang="ro-RO" dirty="0"/>
              <a:t> este evaluată ca </a:t>
            </a:r>
            <a:r>
              <a:rPr lang="ro-RO" b="1" dirty="0"/>
              <a:t>TRUE:</a:t>
            </a:r>
          </a:p>
          <a:p>
            <a:pPr lvl="1"/>
            <a:r>
              <a:rPr lang="ro-RO" sz="2000" dirty="0"/>
              <a:t>se returnează </a:t>
            </a:r>
            <a:r>
              <a:rPr lang="ro-RO" sz="2000" b="1" dirty="0"/>
              <a:t>else_result_expression </a:t>
            </a:r>
            <a:r>
              <a:rPr lang="ro-RO" sz="2000" dirty="0"/>
              <a:t>(dacă este specificată </a:t>
            </a:r>
            <a:r>
              <a:rPr lang="ro-RO" sz="2000" b="1" dirty="0"/>
              <a:t>clauza ELSE</a:t>
            </a:r>
            <a:r>
              <a:rPr lang="ro-RO" sz="2000" dirty="0"/>
              <a:t>)</a:t>
            </a:r>
          </a:p>
          <a:p>
            <a:pPr lvl="1"/>
            <a:r>
              <a:rPr lang="ro-RO" sz="2000" dirty="0"/>
              <a:t>se returnează </a:t>
            </a:r>
            <a:r>
              <a:rPr lang="ro-RO" sz="2000" b="1" dirty="0"/>
              <a:t>NULL</a:t>
            </a:r>
            <a:r>
              <a:rPr lang="ro-RO" sz="2000" dirty="0"/>
              <a:t> (dacă </a:t>
            </a:r>
            <a:r>
              <a:rPr lang="ro-RO" sz="2000" b="1" dirty="0"/>
              <a:t>nu</a:t>
            </a:r>
            <a:r>
              <a:rPr lang="ro-RO" sz="2000" dirty="0"/>
              <a:t> este specificată </a:t>
            </a:r>
            <a:r>
              <a:rPr lang="ro-RO" sz="2000" b="1" dirty="0"/>
              <a:t>clauza ELSE</a:t>
            </a:r>
            <a:r>
              <a:rPr lang="ro-RO" sz="2000" dirty="0"/>
              <a:t>)</a:t>
            </a:r>
          </a:p>
          <a:p>
            <a:endParaRPr lang="ro-RO" b="1" dirty="0"/>
          </a:p>
        </p:txBody>
      </p:sp>
    </p:spTree>
    <p:extLst>
      <p:ext uri="{BB962C8B-B14F-4D97-AF65-F5344CB8AC3E}">
        <p14:creationId xmlns:p14="http://schemas.microsoft.com/office/powerpoint/2010/main" val="41825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D465-7F15-4373-991D-2A7504C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CB8B-94FB-49B8-AD30-0D7E7469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496" y="1452979"/>
            <a:ext cx="10240762" cy="4419600"/>
          </a:xfrm>
        </p:spPr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expresie</a:t>
            </a:r>
            <a:r>
              <a:rPr lang="en-US" dirty="0"/>
              <a:t> </a:t>
            </a:r>
            <a:r>
              <a:rPr lang="en-US" b="1" dirty="0"/>
              <a:t>simple CASE </a:t>
            </a:r>
            <a:r>
              <a:rPr lang="en-US" dirty="0" err="1"/>
              <a:t>folosit</a:t>
            </a:r>
            <a:r>
              <a:rPr lang="ro-RO" dirty="0"/>
              <a:t>ă într-o instrucțiune </a:t>
            </a:r>
            <a:r>
              <a:rPr lang="ro-RO" b="1" dirty="0"/>
              <a:t>SELECT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SELECT </a:t>
            </a:r>
            <a:r>
              <a:rPr lang="en-US" dirty="0" err="1">
                <a:latin typeface="Consolas" panose="020B0609020204030204" pitchFamily="49" charset="0"/>
              </a:rPr>
              <a:t>nume</a:t>
            </a:r>
            <a:r>
              <a:rPr lang="en-US" dirty="0">
                <a:latin typeface="Consolas" panose="020B0609020204030204" pitchFamily="49" charset="0"/>
              </a:rPr>
              <a:t>, pre</a:t>
            </a:r>
            <a:r>
              <a:rPr lang="ro-RO" dirty="0">
                <a:latin typeface="Consolas" panose="020B0609020204030204" pitchFamily="49" charset="0"/>
              </a:rPr>
              <a:t>ț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sezon</a:t>
            </a:r>
            <a:r>
              <a:rPr lang="en-US" dirty="0">
                <a:latin typeface="Consolas" panose="020B0609020204030204" pitchFamily="49" charset="0"/>
              </a:rPr>
              <a:t>=CASE </a:t>
            </a:r>
            <a:r>
              <a:rPr lang="en-US" dirty="0" err="1">
                <a:latin typeface="Consolas" panose="020B0609020204030204" pitchFamily="49" charset="0"/>
              </a:rPr>
              <a:t>sezon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WHEN 'I' THEN </a:t>
            </a:r>
            <a:r>
              <a:rPr lang="en-US" dirty="0" err="1">
                <a:latin typeface="Consolas" panose="020B0609020204030204" pitchFamily="49" charset="0"/>
              </a:rPr>
              <a:t>N'Iarnă</a:t>
            </a:r>
            <a:r>
              <a:rPr lang="en-US" dirty="0"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WHEN 'P' THEN </a:t>
            </a:r>
            <a:r>
              <a:rPr lang="en-US" dirty="0" err="1">
                <a:latin typeface="Consolas" panose="020B0609020204030204" pitchFamily="49" charset="0"/>
              </a:rPr>
              <a:t>N'Primăvară</a:t>
            </a:r>
            <a:r>
              <a:rPr lang="en-US" dirty="0"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WHEN 'V' THEN </a:t>
            </a:r>
            <a:r>
              <a:rPr lang="en-US" dirty="0" err="1">
                <a:latin typeface="Consolas" panose="020B0609020204030204" pitchFamily="49" charset="0"/>
              </a:rPr>
              <a:t>N'Vară</a:t>
            </a:r>
            <a:r>
              <a:rPr lang="en-US" dirty="0"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WHEN 'T' THEN </a:t>
            </a:r>
            <a:r>
              <a:rPr lang="en-US" dirty="0" err="1">
                <a:latin typeface="Consolas" panose="020B0609020204030204" pitchFamily="49" charset="0"/>
              </a:rPr>
              <a:t>N'Toamnă</a:t>
            </a:r>
            <a:r>
              <a:rPr lang="en-US" dirty="0"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ELSE </a:t>
            </a:r>
            <a:r>
              <a:rPr lang="en-US" dirty="0" err="1">
                <a:latin typeface="Consolas" panose="020B0609020204030204" pitchFamily="49" charset="0"/>
              </a:rPr>
              <a:t>N'Nespecificat</a:t>
            </a:r>
            <a:r>
              <a:rPr lang="en-US" dirty="0"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END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FROM </a:t>
            </a:r>
            <a:r>
              <a:rPr lang="en-US" dirty="0" err="1">
                <a:latin typeface="Consolas" panose="020B0609020204030204" pitchFamily="49" charset="0"/>
              </a:rPr>
              <a:t>Haine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5224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D465-7F15-4373-991D-2A7504C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latin typeface="+mn-lt"/>
              </a:rPr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CB8B-94FB-49B8-AD30-0D7E7469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741" y="1479612"/>
            <a:ext cx="10205251" cy="4419600"/>
          </a:xfrm>
        </p:spPr>
        <p:txBody>
          <a:bodyPr/>
          <a:lstStyle/>
          <a:p>
            <a:r>
              <a:rPr lang="en-US" dirty="0" err="1"/>
              <a:t>Sintaxa</a:t>
            </a:r>
            <a:r>
              <a:rPr lang="ro-RO" dirty="0"/>
              <a:t> expresiei </a:t>
            </a:r>
            <a:r>
              <a:rPr lang="ro-RO" b="1" dirty="0"/>
              <a:t>searched CASE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CASE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WHEN </a:t>
            </a:r>
            <a:r>
              <a:rPr lang="en-US" dirty="0" err="1">
                <a:latin typeface="Consolas" panose="020B0609020204030204" pitchFamily="49" charset="0"/>
              </a:rPr>
              <a:t>Boolean_expression</a:t>
            </a:r>
            <a:r>
              <a:rPr lang="en-US" dirty="0">
                <a:latin typeface="Consolas" panose="020B0609020204030204" pitchFamily="49" charset="0"/>
              </a:rPr>
              <a:t> THEN </a:t>
            </a:r>
            <a:r>
              <a:rPr lang="en-US" dirty="0" err="1">
                <a:latin typeface="Consolas" panose="020B0609020204030204" pitchFamily="49" charset="0"/>
              </a:rPr>
              <a:t>result_expression</a:t>
            </a:r>
            <a:r>
              <a:rPr lang="en-US" dirty="0">
                <a:latin typeface="Consolas" panose="020B0609020204030204" pitchFamily="49" charset="0"/>
              </a:rPr>
              <a:t> [ ...n ] 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ELSE </a:t>
            </a:r>
            <a:r>
              <a:rPr lang="en-US" dirty="0" err="1">
                <a:latin typeface="Consolas" panose="020B0609020204030204" pitchFamily="49" charset="0"/>
              </a:rPr>
              <a:t>else_result_expression</a:t>
            </a:r>
            <a:r>
              <a:rPr lang="en-US" dirty="0">
                <a:latin typeface="Consolas" panose="020B0609020204030204" pitchFamily="49" charset="0"/>
              </a:rPr>
              <a:t>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END </a:t>
            </a:r>
          </a:p>
          <a:p>
            <a:r>
              <a:rPr lang="en-US" dirty="0" err="1"/>
              <a:t>Expresia</a:t>
            </a:r>
            <a:r>
              <a:rPr lang="en-US" dirty="0"/>
              <a:t> </a:t>
            </a:r>
            <a:r>
              <a:rPr lang="en-US" b="1" dirty="0"/>
              <a:t>searched CASE </a:t>
            </a:r>
            <a:r>
              <a:rPr lang="en-US" dirty="0" err="1"/>
              <a:t>func</a:t>
            </a:r>
            <a:r>
              <a:rPr lang="ro-RO" dirty="0"/>
              <a:t>ționează astfel:</a:t>
            </a:r>
          </a:p>
          <a:p>
            <a:pPr lvl="1"/>
            <a:r>
              <a:rPr lang="ro-RO" sz="2000" dirty="0"/>
              <a:t>Se evaluează, în ordinea specificată, </a:t>
            </a:r>
            <a:r>
              <a:rPr lang="en-US" sz="2000" i="1" dirty="0" err="1"/>
              <a:t>Boolean_expression</a:t>
            </a:r>
            <a:r>
              <a:rPr lang="en-US" sz="2000" i="1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 cl</a:t>
            </a:r>
            <a:r>
              <a:rPr lang="ro-RO" sz="2000" dirty="0"/>
              <a:t>auză </a:t>
            </a:r>
            <a:r>
              <a:rPr lang="ro-RO" sz="2000" b="1" dirty="0"/>
              <a:t>WHEN</a:t>
            </a:r>
          </a:p>
          <a:p>
            <a:pPr lvl="1"/>
            <a:r>
              <a:rPr lang="ro-RO" sz="2000" dirty="0"/>
              <a:t>Se returnează </a:t>
            </a:r>
            <a:r>
              <a:rPr lang="en-US" sz="2000" b="1" dirty="0" err="1"/>
              <a:t>result_expression</a:t>
            </a:r>
            <a:r>
              <a:rPr lang="ro-RO" sz="2000" b="1" dirty="0"/>
              <a:t> </a:t>
            </a:r>
            <a:r>
              <a:rPr lang="ro-RO" sz="2000" dirty="0"/>
              <a:t>ce corespunde </a:t>
            </a:r>
            <a:r>
              <a:rPr lang="ro-RO" sz="2000" b="1" dirty="0">
                <a:highlight>
                  <a:srgbClr val="FFFF00"/>
                </a:highlight>
              </a:rPr>
              <a:t>primei</a:t>
            </a:r>
            <a:r>
              <a:rPr lang="ro-RO" sz="2000" b="1" dirty="0"/>
              <a:t> </a:t>
            </a:r>
            <a:r>
              <a:rPr lang="ro-RO" sz="2000" i="1" dirty="0"/>
              <a:t>Boolean_expression </a:t>
            </a:r>
            <a:r>
              <a:rPr lang="ro-RO" sz="2000" dirty="0"/>
              <a:t>care este evaluată ca </a:t>
            </a:r>
            <a:r>
              <a:rPr lang="ro-RO" sz="2000" b="1" dirty="0"/>
              <a:t>TRUE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29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D465-7F15-4373-991D-2A7504C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CB8B-94FB-49B8-AD30-0D7E7469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2252" y="1479612"/>
            <a:ext cx="10249639" cy="4419600"/>
          </a:xfrm>
        </p:spPr>
        <p:txBody>
          <a:bodyPr/>
          <a:lstStyle/>
          <a:p>
            <a:pPr lvl="1"/>
            <a:r>
              <a:rPr lang="ro-RO" sz="2000" dirty="0"/>
              <a:t>Dacă </a:t>
            </a:r>
            <a:r>
              <a:rPr lang="ro-RO" sz="2000" dirty="0">
                <a:highlight>
                  <a:srgbClr val="FFFF00"/>
                </a:highlight>
              </a:rPr>
              <a:t>nicio</a:t>
            </a:r>
            <a:r>
              <a:rPr lang="ro-RO" sz="2000" dirty="0"/>
              <a:t> </a:t>
            </a:r>
            <a:r>
              <a:rPr lang="ro-RO" sz="2000" i="1" dirty="0"/>
              <a:t>Boolean_expression </a:t>
            </a:r>
            <a:r>
              <a:rPr lang="ro-RO" sz="2000" b="1" dirty="0"/>
              <a:t>nu</a:t>
            </a:r>
            <a:r>
              <a:rPr lang="ro-RO" sz="2000" dirty="0"/>
              <a:t> este evaluată ca </a:t>
            </a:r>
            <a:r>
              <a:rPr lang="ro-RO" sz="2000" b="1" dirty="0"/>
              <a:t>TRUE:</a:t>
            </a:r>
          </a:p>
          <a:p>
            <a:pPr lvl="2"/>
            <a:r>
              <a:rPr lang="ro-RO" sz="2000" dirty="0"/>
              <a:t>se returnează </a:t>
            </a:r>
            <a:r>
              <a:rPr lang="ro-RO" sz="2000" b="1" dirty="0"/>
              <a:t>else_result_expression </a:t>
            </a:r>
            <a:r>
              <a:rPr lang="ro-RO" sz="2000" dirty="0"/>
              <a:t>(dacă este specificată </a:t>
            </a:r>
            <a:r>
              <a:rPr lang="ro-RO" sz="2000" b="1" dirty="0"/>
              <a:t>clauza ELSE</a:t>
            </a:r>
            <a:r>
              <a:rPr lang="ro-RO" sz="2000" dirty="0"/>
              <a:t>)</a:t>
            </a:r>
          </a:p>
          <a:p>
            <a:pPr lvl="2"/>
            <a:r>
              <a:rPr lang="ro-RO" sz="2000" dirty="0"/>
              <a:t>se returnează </a:t>
            </a:r>
            <a:r>
              <a:rPr lang="ro-RO" sz="2000" b="1" dirty="0"/>
              <a:t>NULL</a:t>
            </a:r>
            <a:r>
              <a:rPr lang="ro-RO" sz="2000" dirty="0"/>
              <a:t> (dacă </a:t>
            </a:r>
            <a:r>
              <a:rPr lang="ro-RO" sz="2000" b="1" dirty="0"/>
              <a:t>nu</a:t>
            </a:r>
            <a:r>
              <a:rPr lang="ro-RO" sz="2000" dirty="0"/>
              <a:t> este specificată </a:t>
            </a:r>
            <a:r>
              <a:rPr lang="ro-RO" sz="2000" b="1" dirty="0"/>
              <a:t>clauza ELSE</a:t>
            </a:r>
            <a:r>
              <a:rPr lang="ro-RO" sz="2000" dirty="0"/>
              <a:t>)</a:t>
            </a:r>
          </a:p>
          <a:p>
            <a:r>
              <a:rPr lang="ro-RO" dirty="0"/>
              <a:t>Expresia CASE </a:t>
            </a:r>
            <a:r>
              <a:rPr lang="ro-RO" b="1" dirty="0"/>
              <a:t>nu </a:t>
            </a:r>
            <a:r>
              <a:rPr lang="ro-RO" dirty="0"/>
              <a:t>poate fi folosită pentru a controla fluxul execuției:</a:t>
            </a:r>
          </a:p>
          <a:p>
            <a:pPr lvl="1"/>
            <a:r>
              <a:rPr lang="ro-RO" dirty="0"/>
              <a:t>Instrucțiunilor Transact-SQL</a:t>
            </a:r>
          </a:p>
          <a:p>
            <a:pPr lvl="1"/>
            <a:r>
              <a:rPr lang="ro-RO" dirty="0"/>
              <a:t>Blocurilor de instrucțiuni</a:t>
            </a:r>
          </a:p>
          <a:p>
            <a:pPr lvl="1"/>
            <a:r>
              <a:rPr lang="ro-RO" dirty="0"/>
              <a:t>Funcțiilor definite de către utilizator</a:t>
            </a:r>
          </a:p>
          <a:p>
            <a:pPr lvl="1"/>
            <a:r>
              <a:rPr lang="ro-RO" dirty="0"/>
              <a:t>Procedurilor stocate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9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D465-7F15-4373-991D-2A7504C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CB8B-94FB-49B8-AD30-0D7E7469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426345"/>
            <a:ext cx="10128830" cy="4419600"/>
          </a:xfrm>
        </p:spPr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expresie</a:t>
            </a:r>
            <a:r>
              <a:rPr lang="en-US" dirty="0"/>
              <a:t> </a:t>
            </a:r>
            <a:r>
              <a:rPr lang="en-US" b="1" dirty="0"/>
              <a:t>searched CASE </a:t>
            </a:r>
            <a:r>
              <a:rPr lang="en-US" dirty="0" err="1"/>
              <a:t>folosit</a:t>
            </a:r>
            <a:r>
              <a:rPr lang="ro-RO" dirty="0"/>
              <a:t>ă într-o instrucțiune </a:t>
            </a:r>
            <a:r>
              <a:rPr lang="ro-RO" b="1" dirty="0"/>
              <a:t>SELECT</a:t>
            </a:r>
            <a:r>
              <a:rPr lang="ro-RO" dirty="0"/>
              <a:t>: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dirty="0">
                <a:latin typeface="Consolas" panose="020B0609020204030204" pitchFamily="49" charset="0"/>
              </a:rPr>
              <a:t>SELECT </a:t>
            </a:r>
            <a:r>
              <a:rPr lang="en-US" dirty="0" err="1">
                <a:latin typeface="Consolas" panose="020B0609020204030204" pitchFamily="49" charset="0"/>
              </a:rPr>
              <a:t>nume</a:t>
            </a:r>
            <a:r>
              <a:rPr lang="en-US" dirty="0">
                <a:latin typeface="Consolas" panose="020B0609020204030204" pitchFamily="49" charset="0"/>
              </a:rPr>
              <a:t>, pre</a:t>
            </a:r>
            <a:r>
              <a:rPr lang="ro-RO" dirty="0">
                <a:latin typeface="Consolas" panose="020B0609020204030204" pitchFamily="49" charset="0"/>
              </a:rPr>
              <a:t>ț</a:t>
            </a:r>
            <a:r>
              <a:rPr lang="en-US" dirty="0">
                <a:latin typeface="Consolas" panose="020B06090202040302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</a:rPr>
              <a:t>gama</a:t>
            </a:r>
            <a:r>
              <a:rPr lang="en-US" dirty="0">
                <a:latin typeface="Consolas" panose="020B0609020204030204" pitchFamily="49" charset="0"/>
              </a:rPr>
              <a:t> de pre</a:t>
            </a:r>
            <a:r>
              <a:rPr lang="ro-RO" dirty="0">
                <a:latin typeface="Consolas" panose="020B0609020204030204" pitchFamily="49" charset="0"/>
              </a:rPr>
              <a:t>ț</a:t>
            </a:r>
            <a:r>
              <a:rPr lang="en-US" dirty="0" err="1">
                <a:latin typeface="Consolas" panose="020B0609020204030204" pitchFamily="49" charset="0"/>
              </a:rPr>
              <a:t>uri</a:t>
            </a:r>
            <a:r>
              <a:rPr lang="en-US" dirty="0">
                <a:latin typeface="Consolas" panose="020B0609020204030204" pitchFamily="49" charset="0"/>
              </a:rPr>
              <a:t>]=CASE  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WHEN pre</a:t>
            </a:r>
            <a:r>
              <a:rPr lang="ro-RO" dirty="0">
                <a:latin typeface="Consolas" panose="020B0609020204030204" pitchFamily="49" charset="0"/>
              </a:rPr>
              <a:t>ț</a:t>
            </a:r>
            <a:r>
              <a:rPr lang="en-US" dirty="0">
                <a:latin typeface="Consolas" panose="020B0609020204030204" pitchFamily="49" charset="0"/>
              </a:rPr>
              <a:t>=0 THEN '</a:t>
            </a:r>
            <a:r>
              <a:rPr lang="en-US" dirty="0" err="1">
                <a:latin typeface="Consolas" panose="020B0609020204030204" pitchFamily="49" charset="0"/>
              </a:rPr>
              <a:t>gratuit</a:t>
            </a:r>
            <a:r>
              <a:rPr lang="en-US" dirty="0"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WHEN pre</a:t>
            </a:r>
            <a:r>
              <a:rPr lang="ro-RO" dirty="0">
                <a:latin typeface="Consolas" panose="020B0609020204030204" pitchFamily="49" charset="0"/>
              </a:rPr>
              <a:t>ț</a:t>
            </a:r>
            <a:r>
              <a:rPr lang="en-US" dirty="0">
                <a:latin typeface="Consolas" panose="020B0609020204030204" pitchFamily="49" charset="0"/>
              </a:rPr>
              <a:t>&lt;50 THEN 'sub 50 lei'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WHEN pre</a:t>
            </a:r>
            <a:r>
              <a:rPr lang="ro-RO" dirty="0">
                <a:latin typeface="Consolas" panose="020B0609020204030204" pitchFamily="49" charset="0"/>
              </a:rPr>
              <a:t>ț</a:t>
            </a:r>
            <a:r>
              <a:rPr lang="en-US" dirty="0">
                <a:latin typeface="Consolas" panose="020B0609020204030204" pitchFamily="49" charset="0"/>
              </a:rPr>
              <a:t>&gt;=50 AND pre</a:t>
            </a:r>
            <a:r>
              <a:rPr lang="ro-RO" dirty="0">
                <a:latin typeface="Consolas" panose="020B0609020204030204" pitchFamily="49" charset="0"/>
              </a:rPr>
              <a:t>ț</a:t>
            </a:r>
            <a:r>
              <a:rPr lang="en-US" dirty="0">
                <a:latin typeface="Consolas" panose="020B0609020204030204" pitchFamily="49" charset="0"/>
              </a:rPr>
              <a:t>&lt;=150 THEN </a:t>
            </a:r>
            <a:r>
              <a:rPr lang="en-US" dirty="0" err="1">
                <a:latin typeface="Consolas" panose="020B0609020204030204" pitchFamily="49" charset="0"/>
              </a:rPr>
              <a:t>N'între</a:t>
            </a:r>
            <a:r>
              <a:rPr lang="en-US" dirty="0">
                <a:latin typeface="Consolas" panose="020B0609020204030204" pitchFamily="49" charset="0"/>
              </a:rPr>
              <a:t> 50 </a:t>
            </a:r>
            <a:r>
              <a:rPr lang="en-US" dirty="0" err="1">
                <a:latin typeface="Consolas" panose="020B0609020204030204" pitchFamily="49" charset="0"/>
              </a:rPr>
              <a:t>și</a:t>
            </a:r>
            <a:r>
              <a:rPr lang="en-US" dirty="0">
                <a:latin typeface="Consolas" panose="020B0609020204030204" pitchFamily="49" charset="0"/>
              </a:rPr>
              <a:t> 150 lei'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ELSE '</a:t>
            </a:r>
            <a:r>
              <a:rPr lang="en-US" dirty="0" err="1">
                <a:latin typeface="Consolas" panose="020B0609020204030204" pitchFamily="49" charset="0"/>
              </a:rPr>
              <a:t>peste</a:t>
            </a:r>
            <a:r>
              <a:rPr lang="en-US" dirty="0">
                <a:latin typeface="Consolas" panose="020B0609020204030204" pitchFamily="49" charset="0"/>
              </a:rPr>
              <a:t> 150 lei'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END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FROM </a:t>
            </a:r>
            <a:r>
              <a:rPr lang="en-US" dirty="0" err="1">
                <a:latin typeface="Consolas" panose="020B0609020204030204" pitchFamily="49" charset="0"/>
              </a:rPr>
              <a:t>Haine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5306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D465-7F15-4373-991D-2A7504C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CB8B-94FB-49B8-AD30-0D7E7469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417339"/>
            <a:ext cx="10457303" cy="4956828"/>
          </a:xfrm>
        </p:spPr>
        <p:txBody>
          <a:bodyPr>
            <a:normAutofit/>
          </a:bodyPr>
          <a:lstStyle/>
          <a:p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expresie</a:t>
            </a:r>
            <a:r>
              <a:rPr lang="en-US" dirty="0"/>
              <a:t> </a:t>
            </a:r>
            <a:r>
              <a:rPr lang="en-US" b="1" dirty="0"/>
              <a:t>searched CASE </a:t>
            </a:r>
            <a:r>
              <a:rPr lang="en-US" dirty="0" err="1"/>
              <a:t>folosit</a:t>
            </a:r>
            <a:r>
              <a:rPr lang="ro-RO" dirty="0"/>
              <a:t>ă într-o instrucțiune </a:t>
            </a:r>
            <a:r>
              <a:rPr lang="en-US" b="1" dirty="0"/>
              <a:t>UPDATE</a:t>
            </a:r>
            <a:r>
              <a:rPr lang="ro-RO" dirty="0"/>
              <a:t>: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UPDATE </a:t>
            </a:r>
            <a:r>
              <a:rPr lang="en-US" sz="1800" dirty="0" err="1">
                <a:latin typeface="Consolas" panose="020B0609020204030204" pitchFamily="49" charset="0"/>
              </a:rPr>
              <a:t>Angaja</a:t>
            </a:r>
            <a:r>
              <a:rPr lang="ro-RO" sz="1800" dirty="0">
                <a:latin typeface="Consolas" panose="020B0609020204030204" pitchFamily="49" charset="0"/>
              </a:rPr>
              <a:t>ț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SET </a:t>
            </a:r>
            <a:r>
              <a:rPr lang="en-US" sz="1800" dirty="0" err="1">
                <a:latin typeface="Consolas" panose="020B0609020204030204" pitchFamily="49" charset="0"/>
              </a:rPr>
              <a:t>salariu</a:t>
            </a:r>
            <a:r>
              <a:rPr lang="en-US" sz="1800" dirty="0">
                <a:latin typeface="Consolas" panose="020B0609020204030204" pitchFamily="49" charset="0"/>
              </a:rPr>
              <a:t>=(CASE 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WHEN (DATEDIFF(</a:t>
            </a:r>
            <a:r>
              <a:rPr lang="en-US" sz="1800" dirty="0" err="1">
                <a:latin typeface="Consolas" panose="020B0609020204030204" pitchFamily="49" charset="0"/>
              </a:rPr>
              <a:t>YEAR,data_angaj</a:t>
            </a:r>
            <a:r>
              <a:rPr lang="ro-RO" sz="1800" dirty="0">
                <a:latin typeface="Consolas" panose="020B0609020204030204" pitchFamily="49" charset="0"/>
              </a:rPr>
              <a:t>ă</a:t>
            </a:r>
            <a:r>
              <a:rPr lang="en-US" sz="1800" dirty="0" err="1">
                <a:latin typeface="Consolas" panose="020B0609020204030204" pitchFamily="49" charset="0"/>
              </a:rPr>
              <a:t>rii,GETDATE</a:t>
            </a:r>
            <a:r>
              <a:rPr lang="en-US" sz="1800" dirty="0">
                <a:latin typeface="Consolas" panose="020B0609020204030204" pitchFamily="49" charset="0"/>
              </a:rPr>
              <a:t>()) &lt; 2) THEN </a:t>
            </a:r>
            <a:r>
              <a:rPr lang="en-US" sz="1800" dirty="0" err="1">
                <a:latin typeface="Consolas" panose="020B0609020204030204" pitchFamily="49" charset="0"/>
              </a:rPr>
              <a:t>salariu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WHEN (DATEDIFF(</a:t>
            </a:r>
            <a:r>
              <a:rPr lang="en-US" sz="1800" dirty="0" err="1">
                <a:latin typeface="Consolas" panose="020B0609020204030204" pitchFamily="49" charset="0"/>
              </a:rPr>
              <a:t>YEAR,data_angaj</a:t>
            </a:r>
            <a:r>
              <a:rPr lang="ro-RO" sz="1800" dirty="0">
                <a:latin typeface="Consolas" panose="020B0609020204030204" pitchFamily="49" charset="0"/>
              </a:rPr>
              <a:t>ă</a:t>
            </a:r>
            <a:r>
              <a:rPr lang="en-US" sz="1800" dirty="0" err="1">
                <a:latin typeface="Consolas" panose="020B0609020204030204" pitchFamily="49" charset="0"/>
              </a:rPr>
              <a:t>rii,GETDATE</a:t>
            </a:r>
            <a:r>
              <a:rPr lang="en-US" sz="1800" dirty="0">
                <a:latin typeface="Consolas" panose="020B0609020204030204" pitchFamily="49" charset="0"/>
              </a:rPr>
              <a:t>()) BETWEEN 2 AND 4) THEN </a:t>
            </a:r>
            <a:r>
              <a:rPr lang="en-US" sz="1800" dirty="0" err="1">
                <a:latin typeface="Consolas" panose="020B0609020204030204" pitchFamily="49" charset="0"/>
              </a:rPr>
              <a:t>salariu</a:t>
            </a:r>
            <a:r>
              <a:rPr lang="en-US" sz="1800" dirty="0">
                <a:latin typeface="Consolas" panose="020B0609020204030204" pitchFamily="49" charset="0"/>
              </a:rPr>
              <a:t> + 400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WHEN (DATEDIFF(</a:t>
            </a:r>
            <a:r>
              <a:rPr lang="en-US" sz="1800" dirty="0" err="1">
                <a:latin typeface="Consolas" panose="020B0609020204030204" pitchFamily="49" charset="0"/>
              </a:rPr>
              <a:t>YEAR,data_angaj</a:t>
            </a:r>
            <a:r>
              <a:rPr lang="ro-RO" sz="1800" dirty="0">
                <a:latin typeface="Consolas" panose="020B0609020204030204" pitchFamily="49" charset="0"/>
              </a:rPr>
              <a:t>ă</a:t>
            </a:r>
            <a:r>
              <a:rPr lang="en-US" sz="1800" dirty="0" err="1">
                <a:latin typeface="Consolas" panose="020B0609020204030204" pitchFamily="49" charset="0"/>
              </a:rPr>
              <a:t>rii,GETDATE</a:t>
            </a:r>
            <a:r>
              <a:rPr lang="en-US" sz="1800" dirty="0">
                <a:latin typeface="Consolas" panose="020B0609020204030204" pitchFamily="49" charset="0"/>
              </a:rPr>
              <a:t>()) BETWEEN 5 AND 7) THEN </a:t>
            </a:r>
            <a:r>
              <a:rPr lang="en-US" sz="1800" dirty="0" err="1">
                <a:latin typeface="Consolas" panose="020B0609020204030204" pitchFamily="49" charset="0"/>
              </a:rPr>
              <a:t>salariu</a:t>
            </a:r>
            <a:r>
              <a:rPr lang="en-US" sz="1800" dirty="0">
                <a:latin typeface="Consolas" panose="020B0609020204030204" pitchFamily="49" charset="0"/>
              </a:rPr>
              <a:t> + 600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ELSE </a:t>
            </a:r>
            <a:r>
              <a:rPr lang="en-US" sz="1800" dirty="0" err="1">
                <a:latin typeface="Consolas" panose="020B0609020204030204" pitchFamily="49" charset="0"/>
              </a:rPr>
              <a:t>salariu</a:t>
            </a:r>
            <a:r>
              <a:rPr lang="en-US" sz="1800" dirty="0">
                <a:latin typeface="Consolas" panose="020B0609020204030204" pitchFamily="49" charset="0"/>
              </a:rPr>
              <a:t> + 800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END) 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OUTPUT </a:t>
            </a:r>
            <a:r>
              <a:rPr lang="en-US" sz="1800" dirty="0" err="1">
                <a:latin typeface="Consolas" panose="020B0609020204030204" pitchFamily="49" charset="0"/>
              </a:rPr>
              <a:t>deleted.nume</a:t>
            </a:r>
            <a:r>
              <a:rPr lang="en-US" sz="1800" dirty="0">
                <a:latin typeface="Consolas" panose="020B0609020204030204" pitchFamily="49" charset="0"/>
              </a:rPr>
              <a:t>, DATEDIFF(</a:t>
            </a:r>
            <a:r>
              <a:rPr lang="en-US" sz="1800" dirty="0" err="1">
                <a:latin typeface="Consolas" panose="020B0609020204030204" pitchFamily="49" charset="0"/>
              </a:rPr>
              <a:t>YEAR,deleted.data_angaj</a:t>
            </a:r>
            <a:r>
              <a:rPr lang="ro-RO" sz="1800" dirty="0">
                <a:latin typeface="Consolas" panose="020B0609020204030204" pitchFamily="49" charset="0"/>
              </a:rPr>
              <a:t>ă</a:t>
            </a:r>
            <a:r>
              <a:rPr lang="en-US" sz="1800" dirty="0" err="1">
                <a:latin typeface="Consolas" panose="020B0609020204030204" pitchFamily="49" charset="0"/>
              </a:rPr>
              <a:t>rii,GETDATE</a:t>
            </a:r>
            <a:r>
              <a:rPr lang="en-US" sz="1800" dirty="0">
                <a:latin typeface="Consolas" panose="020B0609020204030204" pitchFamily="49" charset="0"/>
              </a:rPr>
              <a:t>()) [</a:t>
            </a:r>
            <a:r>
              <a:rPr lang="en-US" sz="1800" dirty="0" err="1">
                <a:latin typeface="Consolas" panose="020B0609020204030204" pitchFamily="49" charset="0"/>
              </a:rPr>
              <a:t>vechime</a:t>
            </a:r>
            <a:r>
              <a:rPr lang="en-US" sz="1800" dirty="0">
                <a:latin typeface="Consolas" panose="020B0609020204030204" pitchFamily="49" charset="0"/>
              </a:rPr>
              <a:t>], </a:t>
            </a:r>
            <a:r>
              <a:rPr lang="pt-BR" sz="1800" dirty="0">
                <a:latin typeface="Consolas" panose="020B0609020204030204" pitchFamily="49" charset="0"/>
              </a:rPr>
              <a:t>deleted.salariu [salariu vechi], inserted.salariu [salariu nou];</a:t>
            </a:r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2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Indecși </a:t>
            </a:r>
            <a:r>
              <a:rPr lang="ro-RO" dirty="0" err="1">
                <a:latin typeface="+mn-lt"/>
              </a:rPr>
              <a:t>Columnstore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374" y="1461856"/>
            <a:ext cx="10444948" cy="4832412"/>
          </a:xfrm>
        </p:spPr>
        <p:txBody>
          <a:bodyPr>
            <a:normAutofit/>
          </a:bodyPr>
          <a:lstStyle/>
          <a:p>
            <a:r>
              <a:rPr lang="ro-RO" b="1" dirty="0"/>
              <a:t>Indexul </a:t>
            </a:r>
            <a:r>
              <a:rPr lang="ro-RO" b="1" dirty="0" err="1"/>
              <a:t>columnstore</a:t>
            </a:r>
            <a:r>
              <a:rPr lang="ro-RO" b="1" dirty="0"/>
              <a:t> </a:t>
            </a:r>
            <a:r>
              <a:rPr lang="ro-RO" dirty="0"/>
              <a:t>grupează și stochează datele în funcție de </a:t>
            </a:r>
            <a:r>
              <a:rPr lang="ro-RO" b="1" dirty="0"/>
              <a:t>coloane</a:t>
            </a:r>
            <a:r>
              <a:rPr lang="ro-RO" dirty="0"/>
              <a:t>, nu de înregistrări</a:t>
            </a:r>
          </a:p>
          <a:p>
            <a:r>
              <a:rPr lang="ro-RO" dirty="0"/>
              <a:t>Indecșii </a:t>
            </a:r>
            <a:r>
              <a:rPr lang="ro-RO" dirty="0" err="1"/>
              <a:t>columnstore</a:t>
            </a:r>
            <a:r>
              <a:rPr lang="ro-RO" dirty="0"/>
              <a:t> pot fi </a:t>
            </a:r>
            <a:r>
              <a:rPr lang="ro-RO" b="1" dirty="0" err="1"/>
              <a:t>clustered</a:t>
            </a:r>
            <a:r>
              <a:rPr lang="ro-RO" dirty="0"/>
              <a:t> sau </a:t>
            </a:r>
            <a:r>
              <a:rPr lang="ro-RO" b="1" dirty="0" err="1"/>
              <a:t>nonclustered</a:t>
            </a:r>
            <a:endParaRPr lang="ro-RO" b="1" dirty="0"/>
          </a:p>
          <a:p>
            <a:r>
              <a:rPr lang="ro-RO" dirty="0"/>
              <a:t>Sunt foarte potriviți pentru</a:t>
            </a:r>
            <a:r>
              <a:rPr lang="en-US" dirty="0"/>
              <a:t> </a:t>
            </a:r>
            <a:r>
              <a:rPr lang="en-US" i="1" dirty="0"/>
              <a:t>data</a:t>
            </a:r>
            <a:r>
              <a:rPr lang="ro-RO" i="1" dirty="0"/>
              <a:t> warehouses </a:t>
            </a:r>
          </a:p>
          <a:p>
            <a:r>
              <a:rPr lang="ro-RO" dirty="0"/>
              <a:t>Interogări de 10 ori mai performante (față de stocarea tradițională în funcție de înregistrări)</a:t>
            </a:r>
          </a:p>
          <a:p>
            <a:r>
              <a:rPr lang="ro-RO" dirty="0"/>
              <a:t>Compresie a datelor de </a:t>
            </a:r>
            <a:r>
              <a:rPr lang="en-US" dirty="0"/>
              <a:t>10</a:t>
            </a:r>
            <a:r>
              <a:rPr lang="ro-RO" dirty="0"/>
              <a:t> ori mai bună (față de dimensiunea datelor necomprimate) </a:t>
            </a:r>
          </a:p>
          <a:p>
            <a:r>
              <a:rPr lang="ro-RO" dirty="0"/>
              <a:t>La crearea unui index columnstore nu se poate specifica ordine descrescătoare sau crescătoare pentru coloanele din index, deoarece datele sunt stocate într-o manieră care să îmbunătățească compresia și performanța </a:t>
            </a:r>
          </a:p>
        </p:txBody>
      </p:sp>
    </p:spTree>
    <p:extLst>
      <p:ext uri="{BB962C8B-B14F-4D97-AF65-F5344CB8AC3E}">
        <p14:creationId xmlns:p14="http://schemas.microsoft.com/office/powerpoint/2010/main" val="337202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Indecși Columnstore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007" y="1448827"/>
            <a:ext cx="8770571" cy="4617076"/>
          </a:xfrm>
        </p:spPr>
        <p:txBody>
          <a:bodyPr>
            <a:normAutofit fontScale="92500" lnSpcReduction="20000"/>
          </a:bodyPr>
          <a:lstStyle/>
          <a:p>
            <a:r>
              <a:rPr lang="ro-RO" dirty="0"/>
              <a:t>Index </a:t>
            </a:r>
            <a:r>
              <a:rPr lang="ro-RO" dirty="0" err="1"/>
              <a:t>Rowstore</a:t>
            </a:r>
            <a:r>
              <a:rPr lang="ro-RO" dirty="0"/>
              <a:t> </a:t>
            </a:r>
          </a:p>
          <a:p>
            <a:pPr marL="0" indent="0">
              <a:buNone/>
            </a:pPr>
            <a:r>
              <a:rPr lang="ro-RO" dirty="0"/>
              <a:t>Rândul 1</a:t>
            </a:r>
          </a:p>
          <a:p>
            <a:pPr marL="0" indent="0">
              <a:buNone/>
            </a:pPr>
            <a:r>
              <a:rPr lang="ro-RO" dirty="0"/>
              <a:t>Rândul 2</a:t>
            </a:r>
          </a:p>
          <a:p>
            <a:pPr marL="0" indent="0">
              <a:buNone/>
            </a:pPr>
            <a:r>
              <a:rPr lang="ro-RO" dirty="0"/>
              <a:t>Rândul 3</a:t>
            </a:r>
          </a:p>
          <a:p>
            <a:pPr marL="0" indent="0">
              <a:buNone/>
            </a:pPr>
            <a:r>
              <a:rPr lang="ro-RO" dirty="0"/>
              <a:t>Rândul 4</a:t>
            </a:r>
          </a:p>
          <a:p>
            <a:pPr marL="320040" lvl="1" indent="0">
              <a:buNone/>
            </a:pPr>
            <a:r>
              <a:rPr lang="ro-RO" dirty="0"/>
              <a:t>				</a:t>
            </a:r>
            <a:r>
              <a:rPr lang="ro-RO" sz="2000" dirty="0"/>
              <a:t>Pagina 1</a:t>
            </a:r>
          </a:p>
          <a:p>
            <a:pPr marL="320040" lvl="1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Rândul 5</a:t>
            </a:r>
          </a:p>
          <a:p>
            <a:pPr marL="0" indent="0">
              <a:buNone/>
            </a:pPr>
            <a:r>
              <a:rPr lang="ro-RO" dirty="0"/>
              <a:t>….</a:t>
            </a:r>
          </a:p>
          <a:p>
            <a:pPr marL="0" indent="0">
              <a:buNone/>
            </a:pPr>
            <a:r>
              <a:rPr lang="ro-RO" dirty="0"/>
              <a:t>Rândul n</a:t>
            </a:r>
          </a:p>
          <a:p>
            <a:pPr marL="0" indent="0">
              <a:buNone/>
            </a:pPr>
            <a:r>
              <a:rPr lang="ro-RO" dirty="0"/>
              <a:t>				Pagina 2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659383"/>
              </p:ext>
            </p:extLst>
          </p:nvPr>
        </p:nvGraphicFramePr>
        <p:xfrm>
          <a:off x="2776022" y="1832278"/>
          <a:ext cx="6639955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4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142660"/>
              </p:ext>
            </p:extLst>
          </p:nvPr>
        </p:nvGraphicFramePr>
        <p:xfrm>
          <a:off x="2776022" y="2263110"/>
          <a:ext cx="6639955" cy="370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4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216643"/>
              </p:ext>
            </p:extLst>
          </p:nvPr>
        </p:nvGraphicFramePr>
        <p:xfrm>
          <a:off x="2776022" y="2675301"/>
          <a:ext cx="6639955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4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131377"/>
              </p:ext>
            </p:extLst>
          </p:nvPr>
        </p:nvGraphicFramePr>
        <p:xfrm>
          <a:off x="2776022" y="3102072"/>
          <a:ext cx="66399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973680"/>
              </p:ext>
            </p:extLst>
          </p:nvPr>
        </p:nvGraphicFramePr>
        <p:xfrm>
          <a:off x="2776021" y="4187808"/>
          <a:ext cx="6639955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4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779212"/>
              </p:ext>
            </p:extLst>
          </p:nvPr>
        </p:nvGraphicFramePr>
        <p:xfrm>
          <a:off x="2776021" y="4675806"/>
          <a:ext cx="6639955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4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656447"/>
              </p:ext>
            </p:extLst>
          </p:nvPr>
        </p:nvGraphicFramePr>
        <p:xfrm>
          <a:off x="2776021" y="5123234"/>
          <a:ext cx="66399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8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79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Indecși Columnstore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822" y="1461857"/>
            <a:ext cx="9920718" cy="4419600"/>
          </a:xfrm>
        </p:spPr>
        <p:txBody>
          <a:bodyPr>
            <a:normAutofit/>
          </a:bodyPr>
          <a:lstStyle/>
          <a:p>
            <a:r>
              <a:rPr lang="ro-RO" dirty="0"/>
              <a:t>Index </a:t>
            </a:r>
            <a:r>
              <a:rPr lang="en-US" dirty="0"/>
              <a:t>C</a:t>
            </a:r>
            <a:r>
              <a:rPr lang="ro-RO" dirty="0"/>
              <a:t>olumnstore</a:t>
            </a:r>
          </a:p>
          <a:p>
            <a:pPr marL="0" indent="0">
              <a:buNone/>
            </a:pPr>
            <a:r>
              <a:rPr lang="ro-RO" dirty="0"/>
              <a:t>Rândul 1</a:t>
            </a:r>
          </a:p>
          <a:p>
            <a:pPr marL="0" indent="0">
              <a:buNone/>
            </a:pPr>
            <a:r>
              <a:rPr lang="ro-RO" dirty="0"/>
              <a:t>Rândul 2</a:t>
            </a:r>
          </a:p>
          <a:p>
            <a:pPr marL="0" indent="0">
              <a:buNone/>
            </a:pPr>
            <a:r>
              <a:rPr lang="ro-RO" dirty="0"/>
              <a:t>Rândul 3</a:t>
            </a:r>
          </a:p>
          <a:p>
            <a:pPr marL="0" indent="0">
              <a:buNone/>
            </a:pPr>
            <a:r>
              <a:rPr lang="ro-RO" dirty="0"/>
              <a:t>Rândul 4</a:t>
            </a:r>
          </a:p>
          <a:p>
            <a:pPr marL="0" indent="0">
              <a:buNone/>
            </a:pPr>
            <a:r>
              <a:rPr lang="ro-RO" dirty="0"/>
              <a:t>Rândul 5</a:t>
            </a:r>
          </a:p>
          <a:p>
            <a:pPr marL="0" indent="0">
              <a:buNone/>
            </a:pPr>
            <a:r>
              <a:rPr lang="ro-RO" dirty="0"/>
              <a:t>…</a:t>
            </a:r>
          </a:p>
          <a:p>
            <a:pPr marL="0" indent="0">
              <a:buNone/>
            </a:pPr>
            <a:r>
              <a:rPr lang="ro-RO" dirty="0"/>
              <a:t>Rândul n</a:t>
            </a:r>
          </a:p>
          <a:p>
            <a:pPr marL="0" indent="0">
              <a:buNone/>
            </a:pPr>
            <a:r>
              <a:rPr lang="ro-RO" dirty="0"/>
              <a:t>                        </a:t>
            </a:r>
            <a:r>
              <a:rPr lang="ro-RO" sz="1800" dirty="0"/>
              <a:t>Pagina 1     Pagina 2   Pagina 3   Pagina 4   Pagina 5  Pagina 6   Pagina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278037"/>
              </p:ext>
            </p:extLst>
          </p:nvPr>
        </p:nvGraphicFramePr>
        <p:xfrm>
          <a:off x="3170067" y="1905206"/>
          <a:ext cx="736959" cy="30796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3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30641"/>
              </p:ext>
            </p:extLst>
          </p:nvPr>
        </p:nvGraphicFramePr>
        <p:xfrm>
          <a:off x="4259702" y="1910591"/>
          <a:ext cx="736959" cy="307960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3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615665"/>
              </p:ext>
            </p:extLst>
          </p:nvPr>
        </p:nvGraphicFramePr>
        <p:xfrm>
          <a:off x="5246039" y="1905206"/>
          <a:ext cx="736959" cy="30796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3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069095"/>
              </p:ext>
            </p:extLst>
          </p:nvPr>
        </p:nvGraphicFramePr>
        <p:xfrm>
          <a:off x="6256734" y="1905206"/>
          <a:ext cx="736959" cy="307960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3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827986"/>
              </p:ext>
            </p:extLst>
          </p:nvPr>
        </p:nvGraphicFramePr>
        <p:xfrm>
          <a:off x="7308363" y="1889197"/>
          <a:ext cx="736959" cy="3079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511017"/>
              </p:ext>
            </p:extLst>
          </p:nvPr>
        </p:nvGraphicFramePr>
        <p:xfrm>
          <a:off x="8229409" y="1889198"/>
          <a:ext cx="736959" cy="30796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3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098583"/>
              </p:ext>
            </p:extLst>
          </p:nvPr>
        </p:nvGraphicFramePr>
        <p:xfrm>
          <a:off x="9264765" y="1889198"/>
          <a:ext cx="736959" cy="30796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3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43">
                <a:tc>
                  <a:txBody>
                    <a:bodyPr/>
                    <a:lstStyle/>
                    <a:p>
                      <a:r>
                        <a:rPr lang="ro-RO" dirty="0"/>
                        <a:t>Col7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92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Indecși Columnstore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006" y="1453365"/>
            <a:ext cx="8770571" cy="4499113"/>
          </a:xfrm>
        </p:spPr>
        <p:txBody>
          <a:bodyPr>
            <a:normAutofit/>
          </a:bodyPr>
          <a:lstStyle/>
          <a:p>
            <a:r>
              <a:rPr lang="ro-RO" dirty="0"/>
              <a:t>Exemplu </a:t>
            </a:r>
            <a:r>
              <a:rPr lang="en-US" dirty="0"/>
              <a:t>de c</a:t>
            </a:r>
            <a:r>
              <a:rPr lang="ro-RO" dirty="0"/>
              <a:t>reare</a:t>
            </a:r>
            <a:r>
              <a:rPr lang="en-US" dirty="0"/>
              <a:t> </a:t>
            </a:r>
            <a:r>
              <a:rPr lang="ro-RO" dirty="0"/>
              <a:t>a unui index columnstore clustered</a:t>
            </a:r>
            <a:r>
              <a:rPr lang="en-US" dirty="0"/>
              <a:t>: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dirty="0">
                <a:latin typeface="Consolas" panose="020B0609020204030204" pitchFamily="49" charset="0"/>
              </a:rPr>
              <a:t>CREATE CLUSTERED COLUMNSTORE INDEX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CCIX_</a:t>
            </a:r>
            <a:r>
              <a:rPr lang="ro-RO" dirty="0">
                <a:latin typeface="Consolas" panose="020B0609020204030204" pitchFamily="49" charset="0"/>
              </a:rPr>
              <a:t>Perso</a:t>
            </a:r>
            <a:r>
              <a:rPr lang="en-US" dirty="0" err="1">
                <a:latin typeface="Consolas" panose="020B0609020204030204" pitchFamily="49" charset="0"/>
              </a:rPr>
              <a:t>ane</a:t>
            </a:r>
            <a:r>
              <a:rPr lang="en-US" dirty="0">
                <a:latin typeface="Consolas" panose="020B0609020204030204" pitchFamily="49" charset="0"/>
              </a:rPr>
              <a:t> ON </a:t>
            </a:r>
            <a:r>
              <a:rPr lang="ro-RO" dirty="0">
                <a:latin typeface="Consolas" panose="020B0609020204030204" pitchFamily="49" charset="0"/>
              </a:rPr>
              <a:t>Perso</a:t>
            </a:r>
            <a:r>
              <a:rPr lang="en-US" dirty="0" err="1">
                <a:latin typeface="Consolas" panose="020B0609020204030204" pitchFamily="49" charset="0"/>
              </a:rPr>
              <a:t>ane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ro-RO" dirty="0">
              <a:latin typeface="Consolas" panose="020B0609020204030204" pitchFamily="49" charset="0"/>
            </a:endParaRPr>
          </a:p>
          <a:p>
            <a:r>
              <a:rPr lang="ro-RO" dirty="0"/>
              <a:t>Exemplu </a:t>
            </a:r>
            <a:r>
              <a:rPr lang="en-US" dirty="0"/>
              <a:t>de</a:t>
            </a:r>
            <a:r>
              <a:rPr lang="ro-RO" dirty="0"/>
              <a:t> </a:t>
            </a:r>
            <a:r>
              <a:rPr lang="en-US" dirty="0"/>
              <a:t>c</a:t>
            </a:r>
            <a:r>
              <a:rPr lang="ro-RO" dirty="0"/>
              <a:t>reare</a:t>
            </a:r>
            <a:r>
              <a:rPr lang="en-US" dirty="0"/>
              <a:t> </a:t>
            </a:r>
            <a:r>
              <a:rPr lang="ro-RO" dirty="0"/>
              <a:t>a unui index columnstore nonclustered</a:t>
            </a:r>
            <a:r>
              <a:rPr lang="en-US" dirty="0"/>
              <a:t>:</a:t>
            </a:r>
            <a:endParaRPr lang="ro-RO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>
                <a:latin typeface="Consolas" panose="020B0609020204030204" pitchFamily="49" charset="0"/>
              </a:rPr>
              <a:t>CREATE NONCLUSTERED COLUMNSTORE INDEX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	N</a:t>
            </a:r>
            <a:r>
              <a:rPr lang="ro-RO" dirty="0">
                <a:latin typeface="Consolas" panose="020B0609020204030204" pitchFamily="49" charset="0"/>
              </a:rPr>
              <a:t>CIX_Produ</a:t>
            </a:r>
            <a:r>
              <a:rPr lang="en-US" dirty="0">
                <a:latin typeface="Consolas" panose="020B0609020204030204" pitchFamily="49" charset="0"/>
              </a:rPr>
              <a:t>se</a:t>
            </a:r>
            <a:r>
              <a:rPr lang="ro-RO" dirty="0">
                <a:latin typeface="Consolas" panose="020B0609020204030204" pitchFamily="49" charset="0"/>
              </a:rPr>
              <a:t>_</a:t>
            </a:r>
            <a:r>
              <a:rPr lang="en-US" dirty="0" err="1">
                <a:latin typeface="Consolas" panose="020B0609020204030204" pitchFamily="49" charset="0"/>
              </a:rPr>
              <a:t>nume_produs</a:t>
            </a:r>
            <a:r>
              <a:rPr lang="ro-RO" dirty="0">
                <a:latin typeface="Consolas" panose="020B0609020204030204" pitchFamily="49" charset="0"/>
              </a:rPr>
              <a:t>_pr</a:t>
            </a:r>
            <a:r>
              <a:rPr lang="en-US" dirty="0">
                <a:latin typeface="Consolas" panose="020B0609020204030204" pitchFamily="49" charset="0"/>
              </a:rPr>
              <a:t>e</a:t>
            </a:r>
            <a:r>
              <a:rPr lang="ro-RO" dirty="0">
                <a:latin typeface="Consolas" panose="020B0609020204030204" pitchFamily="49" charset="0"/>
              </a:rPr>
              <a:t>ț ON Produse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	</a:t>
            </a:r>
            <a:r>
              <a:rPr lang="ro-RO" dirty="0">
                <a:latin typeface="Consolas" panose="020B0609020204030204" pitchFamily="49" charset="0"/>
              </a:rPr>
              <a:t>(nume_produs, preț)</a:t>
            </a:r>
            <a:r>
              <a:rPr lang="en-US" dirty="0">
                <a:latin typeface="Consolas" panose="020B0609020204030204" pitchFamily="49" charset="0"/>
              </a:rPr>
              <a:t>;</a:t>
            </a:r>
            <a:r>
              <a:rPr lang="ro-RO" dirty="0">
                <a:latin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80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5675E-2783-4D0B-8F54-85413811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Indecși Columnstore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CCCBB-FA1C-4DA6-9DCC-F90312812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2252" y="1435223"/>
            <a:ext cx="10223006" cy="4174435"/>
          </a:xfrm>
        </p:spPr>
        <p:txBody>
          <a:bodyPr>
            <a:normAutofit/>
          </a:bodyPr>
          <a:lstStyle/>
          <a:p>
            <a:r>
              <a:rPr lang="en-US" dirty="0"/>
              <a:t>Un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at</a:t>
            </a:r>
            <a:r>
              <a:rPr lang="ro-RO" dirty="0"/>
              <a:t>ât indecși </a:t>
            </a:r>
            <a:r>
              <a:rPr lang="ro-RO" i="1" dirty="0"/>
              <a:t>rowstore</a:t>
            </a:r>
            <a:r>
              <a:rPr lang="ro-RO" dirty="0"/>
              <a:t>, cât și indecși </a:t>
            </a:r>
            <a:r>
              <a:rPr lang="ro-RO" i="1" dirty="0"/>
              <a:t>columnstore</a:t>
            </a:r>
            <a:r>
              <a:rPr lang="en-US" dirty="0"/>
              <a:t> (maxim un index </a:t>
            </a:r>
            <a:r>
              <a:rPr lang="en-US" i="1" dirty="0" err="1"/>
              <a:t>columnstore</a:t>
            </a:r>
            <a:r>
              <a:rPr lang="en-US" dirty="0"/>
              <a:t> pe </a:t>
            </a:r>
            <a:r>
              <a:rPr lang="en-US" dirty="0" err="1"/>
              <a:t>tabel</a:t>
            </a:r>
            <a:r>
              <a:rPr lang="en-US" dirty="0"/>
              <a:t>)</a:t>
            </a:r>
          </a:p>
          <a:p>
            <a:r>
              <a:rPr lang="ro-RO" dirty="0"/>
              <a:t>După crearea unui index </a:t>
            </a:r>
            <a:r>
              <a:rPr lang="ro-RO" i="1" dirty="0"/>
              <a:t>columnstore nonclustered</a:t>
            </a:r>
            <a:r>
              <a:rPr lang="ro-RO" dirty="0"/>
              <a:t>, tabelul devine </a:t>
            </a:r>
            <a:r>
              <a:rPr lang="ro-RO" i="1" dirty="0"/>
              <a:t>read-only</a:t>
            </a:r>
            <a:r>
              <a:rPr lang="ro-RO" dirty="0"/>
              <a:t> și nu mai poate fi modificat </a:t>
            </a:r>
            <a:r>
              <a:rPr lang="en-US" dirty="0"/>
              <a:t>(</a:t>
            </a:r>
            <a:r>
              <a:rPr lang="ro-RO" dirty="0"/>
              <a:t>SQL Server 2014)</a:t>
            </a:r>
          </a:p>
          <a:p>
            <a:r>
              <a:rPr lang="ro-RO" dirty="0"/>
              <a:t>Începând cu SQL Server 2016, </a:t>
            </a: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index </a:t>
            </a:r>
            <a:r>
              <a:rPr lang="en-US" i="1" dirty="0" err="1"/>
              <a:t>columnstore</a:t>
            </a:r>
            <a:r>
              <a:rPr lang="en-US" i="1" dirty="0"/>
              <a:t> </a:t>
            </a:r>
            <a:r>
              <a:rPr lang="en-US" i="1" dirty="0" err="1"/>
              <a:t>nonclustered</a:t>
            </a:r>
            <a:r>
              <a:rPr lang="en-US" i="1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modificarea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din </a:t>
            </a:r>
            <a:r>
              <a:rPr lang="en-US" dirty="0" err="1"/>
              <a:t>tabel</a:t>
            </a:r>
            <a:r>
              <a:rPr lang="en-US" dirty="0"/>
              <a:t> (</a:t>
            </a:r>
            <a:r>
              <a:rPr lang="en-US" dirty="0" err="1"/>
              <a:t>tabelul</a:t>
            </a:r>
            <a:r>
              <a:rPr lang="en-US" dirty="0"/>
              <a:t> </a:t>
            </a:r>
            <a:r>
              <a:rPr lang="en-US" b="1" dirty="0"/>
              <a:t>nu</a:t>
            </a:r>
            <a:r>
              <a:rPr lang="en-US" dirty="0"/>
              <a:t> </a:t>
            </a:r>
            <a:r>
              <a:rPr lang="en-US" dirty="0" err="1"/>
              <a:t>devine</a:t>
            </a:r>
            <a:r>
              <a:rPr lang="en-US" dirty="0"/>
              <a:t> </a:t>
            </a:r>
            <a:r>
              <a:rPr lang="en-US" i="1" dirty="0"/>
              <a:t>read-only</a:t>
            </a:r>
            <a:r>
              <a:rPr lang="en-US" dirty="0"/>
              <a:t>)</a:t>
            </a:r>
            <a:endParaRPr lang="ro-RO" dirty="0"/>
          </a:p>
          <a:p>
            <a:r>
              <a:rPr lang="ro-RO" dirty="0"/>
              <a:t>Crearea unui index </a:t>
            </a:r>
            <a:r>
              <a:rPr lang="ro-RO" i="1" dirty="0"/>
              <a:t>columnstore clustered </a:t>
            </a:r>
            <a:r>
              <a:rPr lang="ro-RO" b="1" dirty="0"/>
              <a:t>nu</a:t>
            </a:r>
            <a:r>
              <a:rPr lang="ro-RO" dirty="0"/>
              <a:t> împiedică modificarea datelor din tabel, dar </a:t>
            </a:r>
            <a:r>
              <a:rPr lang="ro-RO" b="1" dirty="0"/>
              <a:t>împiedică</a:t>
            </a:r>
            <a:r>
              <a:rPr lang="ro-RO" dirty="0"/>
              <a:t> crearea </a:t>
            </a:r>
            <a:r>
              <a:rPr lang="ro-RO" b="1" dirty="0"/>
              <a:t>altor indecși </a:t>
            </a:r>
            <a:r>
              <a:rPr lang="ro-RO" dirty="0"/>
              <a:t>pe tabelul respectiv (SQL Server 2014)</a:t>
            </a:r>
            <a:endParaRPr lang="en-US" dirty="0"/>
          </a:p>
          <a:p>
            <a:r>
              <a:rPr lang="ro-RO" dirty="0"/>
              <a:t>Începând cu SQL Server 2016, crearea unui index </a:t>
            </a:r>
            <a:r>
              <a:rPr lang="ro-RO" i="1" dirty="0"/>
              <a:t>columnstore clustered </a:t>
            </a:r>
            <a:r>
              <a:rPr lang="ro-RO" b="1" dirty="0"/>
              <a:t>nu</a:t>
            </a:r>
            <a:r>
              <a:rPr lang="ro-RO" dirty="0"/>
              <a:t> impiedică crearea altor indecși </a:t>
            </a:r>
            <a:r>
              <a:rPr lang="ro-RO" i="1" dirty="0"/>
              <a:t>rowstore nonclustered </a:t>
            </a:r>
            <a:r>
              <a:rPr lang="ro-RO" dirty="0"/>
              <a:t>pe tabelul respectiv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Fragmentare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17468"/>
            <a:ext cx="10395160" cy="4419600"/>
          </a:xfrm>
        </p:spPr>
        <p:txBody>
          <a:bodyPr/>
          <a:lstStyle/>
          <a:p>
            <a:r>
              <a:rPr lang="en-US" dirty="0" err="1"/>
              <a:t>Unitatea</a:t>
            </a:r>
            <a:r>
              <a:rPr lang="en-US" dirty="0"/>
              <a:t> </a:t>
            </a:r>
            <a:r>
              <a:rPr lang="ro-RO" dirty="0"/>
              <a:t>fundamentală </a:t>
            </a:r>
            <a:r>
              <a:rPr lang="en-US" dirty="0"/>
              <a:t>de </a:t>
            </a:r>
            <a:r>
              <a:rPr lang="en-US" dirty="0" err="1"/>
              <a:t>stocare</a:t>
            </a:r>
            <a:r>
              <a:rPr lang="ro-RO" dirty="0"/>
              <a:t> a datelor din SQL Server este pagina</a:t>
            </a:r>
          </a:p>
          <a:p>
            <a:r>
              <a:rPr lang="ro-RO" dirty="0"/>
              <a:t>Spațiul alocat pe disc unui fișier de date (.</a:t>
            </a:r>
            <a:r>
              <a:rPr lang="ro-RO" dirty="0" err="1"/>
              <a:t>mdf</a:t>
            </a:r>
            <a:r>
              <a:rPr lang="ro-RO" dirty="0"/>
              <a:t> sau .</a:t>
            </a:r>
            <a:r>
              <a:rPr lang="ro-RO" dirty="0" err="1"/>
              <a:t>ndf</a:t>
            </a:r>
            <a:r>
              <a:rPr lang="ro-RO" dirty="0"/>
              <a:t>) într-o bază de date este divizat logic în pagini numerotate contiguu de la 0 la n</a:t>
            </a:r>
          </a:p>
          <a:p>
            <a:r>
              <a:rPr lang="ro-RO" dirty="0"/>
              <a:t>Operațiile I/O au loc la nivel de pagină (SQL Server scrie sau citește pagini întregi de date</a:t>
            </a:r>
            <a:r>
              <a:rPr lang="en-US" dirty="0"/>
              <a:t>)</a:t>
            </a:r>
            <a:endParaRPr lang="ro-RO" dirty="0"/>
          </a:p>
          <a:p>
            <a:r>
              <a:rPr lang="ro-RO" dirty="0"/>
              <a:t>O zonă (</a:t>
            </a:r>
            <a:r>
              <a:rPr lang="ro-RO" dirty="0" err="1"/>
              <a:t>extent</a:t>
            </a:r>
            <a:r>
              <a:rPr lang="ro-RO" dirty="0"/>
              <a:t>) conține 8 pagini de date fizic contigue, sau 64 KB </a:t>
            </a:r>
            <a:endParaRPr lang="en-US" dirty="0"/>
          </a:p>
          <a:p>
            <a:r>
              <a:rPr lang="ro-RO" dirty="0"/>
              <a:t>Fragmentarea </a:t>
            </a:r>
            <a:r>
              <a:rPr lang="ro-RO" b="1" dirty="0"/>
              <a:t>internă</a:t>
            </a:r>
            <a:r>
              <a:rPr lang="ro-RO" dirty="0"/>
              <a:t> are loc atunci când există spațiu nefolosit între înregistrările din aceeași pagină</a:t>
            </a:r>
          </a:p>
          <a:p>
            <a:r>
              <a:rPr lang="ro-RO" dirty="0"/>
              <a:t>Spațiul nefolosit dintre înregistrările aflate pe aceeași pagină cauzează utilizarea deficitară a </a:t>
            </a:r>
            <a:r>
              <a:rPr lang="ro-RO" i="1" dirty="0"/>
              <a:t>cache</a:t>
            </a:r>
            <a:r>
              <a:rPr lang="ro-RO" dirty="0"/>
              <a:t>-ului și mai multe operații I/O, iar acestea duc la performanța slabă a interogărilor </a:t>
            </a:r>
          </a:p>
        </p:txBody>
      </p:sp>
    </p:spTree>
    <p:extLst>
      <p:ext uri="{BB962C8B-B14F-4D97-AF65-F5344CB8AC3E}">
        <p14:creationId xmlns:p14="http://schemas.microsoft.com/office/powerpoint/2010/main" val="60963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Fragmentare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618" y="1417468"/>
            <a:ext cx="10586991" cy="4419600"/>
          </a:xfrm>
        </p:spPr>
        <p:txBody>
          <a:bodyPr/>
          <a:lstStyle/>
          <a:p>
            <a:r>
              <a:rPr lang="ro-RO" dirty="0"/>
              <a:t>Fragmentarea </a:t>
            </a:r>
            <a:r>
              <a:rPr lang="ro-RO" b="1" dirty="0"/>
              <a:t>externă</a:t>
            </a:r>
            <a:r>
              <a:rPr lang="ro-RO" dirty="0"/>
              <a:t> are loc atunci când stocarea fizică a paginilor și a zonelor pe disc </a:t>
            </a:r>
            <a:r>
              <a:rPr lang="ro-RO" b="1" dirty="0"/>
              <a:t>nu</a:t>
            </a:r>
            <a:r>
              <a:rPr lang="ro-RO" dirty="0"/>
              <a:t> este contiguă</a:t>
            </a:r>
          </a:p>
          <a:p>
            <a:r>
              <a:rPr lang="en-US" dirty="0"/>
              <a:t>C</a:t>
            </a:r>
            <a:r>
              <a:rPr lang="ro-RO" dirty="0"/>
              <a:t>ând zonele (extents) unui tabel </a:t>
            </a:r>
            <a:r>
              <a:rPr lang="ro-RO" b="1" dirty="0"/>
              <a:t>nu</a:t>
            </a:r>
            <a:r>
              <a:rPr lang="ro-RO" dirty="0"/>
              <a:t> sunt stocate contiguu pe disc, trecerea de la o zonă la alta generează rotații mai mari ale discurilor </a:t>
            </a:r>
          </a:p>
          <a:p>
            <a:r>
              <a:rPr lang="ro-RO" dirty="0"/>
              <a:t>Fragmentarea logică</a:t>
            </a:r>
            <a:endParaRPr lang="en-US" dirty="0"/>
          </a:p>
          <a:p>
            <a:pPr lvl="1"/>
            <a:r>
              <a:rPr lang="en-US" dirty="0"/>
              <a:t>F</a:t>
            </a:r>
            <a:r>
              <a:rPr lang="ro-RO" dirty="0" err="1"/>
              <a:t>iecare</a:t>
            </a:r>
            <a:r>
              <a:rPr lang="ro-RO" dirty="0"/>
              <a:t> pagină din index este legată de pagina anterioară și de cea următoare în ordinea logică a datelor din coloane</a:t>
            </a:r>
          </a:p>
          <a:p>
            <a:pPr lvl="1"/>
            <a:r>
              <a:rPr lang="ro-RO" dirty="0"/>
              <a:t>Când are loc o diviziune a unei pagini</a:t>
            </a:r>
            <a:r>
              <a:rPr lang="en-US" dirty="0"/>
              <a:t> (</a:t>
            </a:r>
            <a:r>
              <a:rPr lang="en-US" i="1" dirty="0"/>
              <a:t>page split</a:t>
            </a:r>
            <a:r>
              <a:rPr lang="en-US" dirty="0"/>
              <a:t>)</a:t>
            </a:r>
            <a:r>
              <a:rPr lang="ro-RO" dirty="0"/>
              <a:t>, paginile se transformă în pagini </a:t>
            </a:r>
            <a:r>
              <a:rPr lang="ro-RO" b="1" dirty="0"/>
              <a:t>out-of-</a:t>
            </a:r>
            <a:r>
              <a:rPr lang="ro-RO" b="1" dirty="0" err="1"/>
              <a:t>order</a:t>
            </a:r>
            <a:endParaRPr lang="ro-RO" b="1" dirty="0"/>
          </a:p>
          <a:p>
            <a:pPr lvl="1"/>
            <a:r>
              <a:rPr lang="ro-RO" dirty="0"/>
              <a:t>O pagină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ro-RO" dirty="0"/>
              <a:t> </a:t>
            </a:r>
            <a:r>
              <a:rPr lang="ro-RO" i="1" dirty="0"/>
              <a:t>out-of-</a:t>
            </a:r>
            <a:r>
              <a:rPr lang="ro-RO" i="1" dirty="0" err="1"/>
              <a:t>order</a:t>
            </a:r>
            <a:r>
              <a:rPr lang="ro-RO" dirty="0"/>
              <a:t> </a:t>
            </a:r>
            <a:r>
              <a:rPr lang="en-US" dirty="0" err="1"/>
              <a:t>atunci</a:t>
            </a:r>
            <a:r>
              <a:rPr lang="en-US" dirty="0"/>
              <a:t> c</a:t>
            </a:r>
            <a:r>
              <a:rPr lang="ro-RO" dirty="0" err="1"/>
              <a:t>ând</a:t>
            </a:r>
            <a:r>
              <a:rPr lang="ro-RO" dirty="0"/>
              <a:t> pagina următoare la nivel fizic </a:t>
            </a:r>
            <a:r>
              <a:rPr lang="ro-RO" b="1" dirty="0"/>
              <a:t>nu</a:t>
            </a:r>
            <a:r>
              <a:rPr lang="ro-RO" dirty="0"/>
              <a:t> este pagina următoare la nivel logic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4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Fragmentare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884" y="1461856"/>
            <a:ext cx="5398932" cy="4155583"/>
          </a:xfrm>
        </p:spPr>
        <p:txBody>
          <a:bodyPr>
            <a:normAutofit/>
          </a:bodyPr>
          <a:lstStyle/>
          <a:p>
            <a:r>
              <a:rPr lang="ro-RO" dirty="0"/>
              <a:t>Fiecare pagină de date conține un </a:t>
            </a:r>
            <a:r>
              <a:rPr lang="ro-RO" b="1" dirty="0" err="1"/>
              <a:t>header</a:t>
            </a:r>
            <a:r>
              <a:rPr lang="ro-RO" dirty="0"/>
              <a:t>, înregistrări, spațiu liber și un tabel </a:t>
            </a:r>
            <a:r>
              <a:rPr lang="ro-RO" b="1" dirty="0" err="1"/>
              <a:t>row</a:t>
            </a:r>
            <a:r>
              <a:rPr lang="ro-RO" b="1" dirty="0"/>
              <a:t> </a:t>
            </a:r>
            <a:r>
              <a:rPr lang="ro-RO" b="1" dirty="0" err="1"/>
              <a:t>offset</a:t>
            </a:r>
            <a:r>
              <a:rPr lang="ro-RO" b="1" dirty="0"/>
              <a:t> </a:t>
            </a:r>
            <a:r>
              <a:rPr lang="ro-RO" dirty="0"/>
              <a:t>care conține câte o intrare pentru fiecare înregistrare de pe pagină</a:t>
            </a:r>
          </a:p>
          <a:p>
            <a:r>
              <a:rPr lang="ro-RO" dirty="0"/>
              <a:t>Fiecare intrare din tabelul </a:t>
            </a:r>
            <a:r>
              <a:rPr lang="ro-RO" b="1" dirty="0" err="1"/>
              <a:t>row</a:t>
            </a:r>
            <a:r>
              <a:rPr lang="ro-RO" b="1" dirty="0"/>
              <a:t> </a:t>
            </a:r>
            <a:r>
              <a:rPr lang="ro-RO" b="1" dirty="0" err="1"/>
              <a:t>offset</a:t>
            </a:r>
            <a:r>
              <a:rPr lang="ro-RO" b="1" dirty="0"/>
              <a:t> </a:t>
            </a:r>
            <a:r>
              <a:rPr lang="ro-RO" dirty="0"/>
              <a:t>înregistrează cât de departe este primul byte al înregistrării față de începutul paginii</a:t>
            </a:r>
          </a:p>
          <a:p>
            <a:r>
              <a:rPr lang="ro-RO" dirty="0"/>
              <a:t>Intrările din tabelul </a:t>
            </a:r>
            <a:r>
              <a:rPr lang="ro-RO" b="1" dirty="0" err="1"/>
              <a:t>row</a:t>
            </a:r>
            <a:r>
              <a:rPr lang="ro-RO" b="1" dirty="0"/>
              <a:t> </a:t>
            </a:r>
            <a:r>
              <a:rPr lang="ro-RO" b="1" dirty="0" err="1"/>
              <a:t>offset</a:t>
            </a:r>
            <a:r>
              <a:rPr lang="ro-RO" b="1" dirty="0"/>
              <a:t> </a:t>
            </a:r>
            <a:r>
              <a:rPr lang="ro-RO" dirty="0"/>
              <a:t>se află în ordine inversă față de înregistrările de pe pagină</a:t>
            </a:r>
            <a:endParaRPr lang="en-US" dirty="0"/>
          </a:p>
          <a:p>
            <a:r>
              <a:rPr lang="ro-RO" dirty="0"/>
              <a:t>O pagină are dimensiunea de 8 KB</a:t>
            </a:r>
            <a:endParaRPr lang="en-US" dirty="0"/>
          </a:p>
        </p:txBody>
      </p:sp>
      <p:sp>
        <p:nvSpPr>
          <p:cNvPr id="4" name="AutoShape 2" descr="Diagram of the SQL Server data page.">
            <a:extLst>
              <a:ext uri="{FF2B5EF4-FFF2-40B4-BE49-F238E27FC236}">
                <a16:creationId xmlns:a16="http://schemas.microsoft.com/office/drawing/2014/main" id="{5A839C4F-AC21-E957-1BE6-A76DC227450D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8558074" y="2263807"/>
            <a:ext cx="2886780" cy="131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CE6E64-BDE9-2D6B-0F3B-08B0F2C23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277" y="1461856"/>
            <a:ext cx="4464366" cy="377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1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Fragmentare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373" y="1426345"/>
            <a:ext cx="10418316" cy="4725879"/>
          </a:xfrm>
        </p:spPr>
        <p:txBody>
          <a:bodyPr>
            <a:normAutofit/>
          </a:bodyPr>
          <a:lstStyle/>
          <a:p>
            <a:r>
              <a:rPr lang="en-US" dirty="0" err="1"/>
              <a:t>Func</a:t>
            </a:r>
            <a:r>
              <a:rPr lang="ro-RO" dirty="0" err="1"/>
              <a:t>ția</a:t>
            </a:r>
            <a:r>
              <a:rPr lang="ro-RO" dirty="0"/>
              <a:t> sistem </a:t>
            </a:r>
            <a:r>
              <a:rPr lang="en-US" b="1" dirty="0" err="1"/>
              <a:t>sys.dm_db_index_physical_stats</a:t>
            </a:r>
            <a:r>
              <a:rPr lang="ro-RO" dirty="0"/>
              <a:t> oferă informații despre dimensiunea și fragmentarea datelor și indecșilor pentru tabelul sau </a:t>
            </a:r>
            <a:r>
              <a:rPr lang="ro-RO" dirty="0" err="1"/>
              <a:t>view-ul</a:t>
            </a:r>
            <a:r>
              <a:rPr lang="ro-RO" dirty="0"/>
              <a:t> specificat</a:t>
            </a:r>
          </a:p>
          <a:p>
            <a:r>
              <a:rPr lang="ro-RO" dirty="0"/>
              <a:t>Dacă dorim să aflăm aceste informații pentru tabelul </a:t>
            </a:r>
            <a:r>
              <a:rPr lang="ro-RO" i="1" dirty="0"/>
              <a:t>Produ</a:t>
            </a:r>
            <a:r>
              <a:rPr lang="en-US" i="1" dirty="0"/>
              <a:t>se</a:t>
            </a:r>
            <a:r>
              <a:rPr lang="ro-RO" dirty="0"/>
              <a:t>, vom executa următoarea interogare: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latin typeface="Consolas" panose="020B0609020204030204" pitchFamily="49" charset="0"/>
              </a:rPr>
              <a:t>SELECT * FROM </a:t>
            </a:r>
            <a:r>
              <a:rPr lang="en-US" sz="1800" dirty="0" err="1">
                <a:latin typeface="Consolas" panose="020B0609020204030204" pitchFamily="49" charset="0"/>
              </a:rPr>
              <a:t>sys.dm_db_index_physical_stats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	(DB_ID(</a:t>
            </a:r>
            <a:r>
              <a:rPr lang="en-US" sz="1800" dirty="0" err="1">
                <a:latin typeface="Consolas" panose="020B0609020204030204" pitchFamily="49" charset="0"/>
              </a:rPr>
              <a:t>N'MagazinOnline</a:t>
            </a:r>
            <a:r>
              <a:rPr lang="en-US" sz="1800" dirty="0">
                <a:latin typeface="Consolas" panose="020B0609020204030204" pitchFamily="49" charset="0"/>
              </a:rPr>
              <a:t>'), OBJECT_ID(</a:t>
            </a:r>
            <a:r>
              <a:rPr lang="en-US" sz="1800" dirty="0" err="1">
                <a:latin typeface="Consolas" panose="020B0609020204030204" pitchFamily="49" charset="0"/>
              </a:rPr>
              <a:t>N'MagazinOnline.dbo.Produse</a:t>
            </a:r>
            <a:r>
              <a:rPr lang="en-US" sz="1800" dirty="0">
                <a:latin typeface="Consolas" panose="020B0609020204030204" pitchFamily="49" charset="0"/>
              </a:rPr>
              <a:t>'),</a:t>
            </a:r>
            <a:r>
              <a:rPr lang="ro-RO" sz="1800" dirty="0">
                <a:latin typeface="Consolas" panose="020B0609020204030204" pitchFamily="49" charset="0"/>
              </a:rPr>
              <a:t> 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NULL,</a:t>
            </a:r>
            <a:r>
              <a:rPr lang="ro-RO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NULL, 'DETAILED');</a:t>
            </a:r>
            <a:endParaRPr lang="ro-RO" sz="1800" dirty="0">
              <a:latin typeface="Consolas" panose="020B0609020204030204" pitchFamily="49" charset="0"/>
            </a:endParaRPr>
          </a:p>
          <a:p>
            <a:r>
              <a:rPr lang="ro-RO" dirty="0"/>
              <a:t>Coloana </a:t>
            </a:r>
            <a:r>
              <a:rPr lang="ro-RO" b="1" dirty="0"/>
              <a:t>a</a:t>
            </a:r>
            <a:r>
              <a:rPr lang="en-US" b="1" dirty="0" err="1"/>
              <a:t>vg_fragmentation_in_percent</a:t>
            </a:r>
            <a:r>
              <a:rPr lang="en-US" b="1" dirty="0"/>
              <a:t> </a:t>
            </a:r>
            <a:r>
              <a:rPr lang="ro-RO" dirty="0"/>
              <a:t>conține valoarea procentuală a fragmentării externe</a:t>
            </a:r>
          </a:p>
          <a:p>
            <a:r>
              <a:rPr lang="ro-RO" dirty="0"/>
              <a:t>Coloana </a:t>
            </a:r>
            <a:r>
              <a:rPr lang="en-US" b="1" dirty="0" err="1"/>
              <a:t>avg_page_space_used_in_percent</a:t>
            </a:r>
            <a:r>
              <a:rPr lang="en-US" b="1" dirty="0"/>
              <a:t> </a:t>
            </a:r>
            <a:r>
              <a:rPr lang="ro-RO" dirty="0"/>
              <a:t>conține valoarea procentuală medie a spațiului de stocare folosit în toate paginile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47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Fragmentare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Cereri de citire a paginilor  – 2                                                          Zona 1</a:t>
            </a:r>
          </a:p>
          <a:p>
            <a:r>
              <a:rPr lang="ro-RO" dirty="0"/>
              <a:t>Schimbări de zonă – 0</a:t>
            </a:r>
          </a:p>
          <a:p>
            <a:r>
              <a:rPr lang="ro-RO" dirty="0"/>
              <a:t>Spațiu utilizat de către tabel – 16 KB</a:t>
            </a:r>
          </a:p>
          <a:p>
            <a:r>
              <a:rPr lang="ro-RO" dirty="0"/>
              <a:t>avg_fragmentation_in_percent </a:t>
            </a:r>
            <a:r>
              <a:rPr lang="en-US" dirty="0"/>
              <a:t>-</a:t>
            </a:r>
            <a:r>
              <a:rPr lang="ro-RO" dirty="0"/>
              <a:t> 0</a:t>
            </a:r>
          </a:p>
          <a:p>
            <a:r>
              <a:rPr lang="en-US" dirty="0" err="1"/>
              <a:t>avg_page_space_used_in_percent</a:t>
            </a:r>
            <a:r>
              <a:rPr lang="ro-RO" dirty="0"/>
              <a:t> -</a:t>
            </a:r>
            <a:r>
              <a:rPr lang="en-US" dirty="0"/>
              <a:t> 100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540001"/>
              </p:ext>
            </p:extLst>
          </p:nvPr>
        </p:nvGraphicFramePr>
        <p:xfrm>
          <a:off x="7252520" y="2061214"/>
          <a:ext cx="161272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Pagina 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281895"/>
              </p:ext>
            </p:extLst>
          </p:nvPr>
        </p:nvGraphicFramePr>
        <p:xfrm>
          <a:off x="9230641" y="2061215"/>
          <a:ext cx="18043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Pagina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Înregistarea</a:t>
                      </a:r>
                      <a:r>
                        <a:rPr lang="ro-RO" baseline="0" dirty="0"/>
                        <a:t> 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060955" y="1339463"/>
            <a:ext cx="4128410" cy="36515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8855446" y="2260073"/>
            <a:ext cx="336274" cy="22131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0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Fragmentare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374" y="1459690"/>
            <a:ext cx="10418315" cy="4994375"/>
          </a:xfrm>
        </p:spPr>
        <p:txBody>
          <a:bodyPr>
            <a:normAutofit/>
          </a:bodyPr>
          <a:lstStyle/>
          <a:p>
            <a:r>
              <a:rPr lang="ro-RO" dirty="0"/>
              <a:t>Pentru a reduce fragmentarea în </a:t>
            </a:r>
            <a:r>
              <a:rPr lang="ro-RO" i="1" dirty="0" err="1"/>
              <a:t>heap</a:t>
            </a:r>
            <a:r>
              <a:rPr lang="ro-RO" i="1" dirty="0"/>
              <a:t> </a:t>
            </a:r>
            <a:r>
              <a:rPr lang="ro-RO" dirty="0"/>
              <a:t>se va crea un index </a:t>
            </a:r>
            <a:r>
              <a:rPr lang="ro-RO" i="1" dirty="0" err="1"/>
              <a:t>clustered</a:t>
            </a:r>
            <a:r>
              <a:rPr lang="ro-RO" dirty="0"/>
              <a:t> pe tabel</a:t>
            </a:r>
          </a:p>
          <a:p>
            <a:r>
              <a:rPr lang="ro-RO" dirty="0"/>
              <a:t>La crearea indexului </a:t>
            </a:r>
            <a:r>
              <a:rPr lang="ro-RO" i="1" dirty="0" err="1"/>
              <a:t>clustered</a:t>
            </a:r>
            <a:r>
              <a:rPr lang="ro-RO" dirty="0"/>
              <a:t>, înregistrările sunt rearanjate într-o anumită ordine, iar paginile sunt așezate contiguu pe disc</a:t>
            </a:r>
          </a:p>
          <a:p>
            <a:r>
              <a:rPr lang="ro-RO" dirty="0"/>
              <a:t>Pentru a reduce fragmentarea unui index, se pot efectua următoarele acțiuni:</a:t>
            </a:r>
          </a:p>
          <a:p>
            <a:pPr lvl="1"/>
            <a:r>
              <a:rPr lang="ro-RO" dirty="0"/>
              <a:t>Dacă </a:t>
            </a:r>
            <a:r>
              <a:rPr lang="ro-RO" b="1" dirty="0" err="1"/>
              <a:t>avg_fragmentation_in_percent</a:t>
            </a:r>
            <a:r>
              <a:rPr lang="ro-RO" b="1" dirty="0"/>
              <a:t> </a:t>
            </a:r>
            <a:r>
              <a:rPr lang="ro-RO" dirty="0"/>
              <a:t>este cuprins între 5% și 30%, se va folosi comanda </a:t>
            </a:r>
            <a:r>
              <a:rPr lang="ro-RO" b="1" dirty="0"/>
              <a:t>ALTER INDEX REORGANIZE </a:t>
            </a:r>
            <a:r>
              <a:rPr lang="ro-RO" dirty="0"/>
              <a:t>(reordonează paginile de la nivelul </a:t>
            </a:r>
            <a:r>
              <a:rPr lang="en-US" dirty="0" err="1"/>
              <a:t>nodurilor</a:t>
            </a:r>
            <a:r>
              <a:rPr lang="en-US" dirty="0"/>
              <a:t> </a:t>
            </a:r>
            <a:r>
              <a:rPr lang="en-US" dirty="0" err="1"/>
              <a:t>terminale</a:t>
            </a:r>
            <a:r>
              <a:rPr lang="ro-RO" dirty="0"/>
              <a:t> în ordine logică)</a:t>
            </a:r>
          </a:p>
          <a:p>
            <a:pPr lvl="1"/>
            <a:r>
              <a:rPr lang="ro-RO" dirty="0"/>
              <a:t>Dacă </a:t>
            </a:r>
            <a:r>
              <a:rPr lang="ro-RO" b="1" dirty="0" err="1"/>
              <a:t>avg_fragmentation_in_percent</a:t>
            </a:r>
            <a:r>
              <a:rPr lang="ro-RO" b="1" dirty="0"/>
              <a:t> </a:t>
            </a:r>
            <a:r>
              <a:rPr lang="ro-RO" dirty="0"/>
              <a:t>este mai mare decât 30%, se va folosi comanda </a:t>
            </a:r>
            <a:r>
              <a:rPr lang="ro-RO" b="1" dirty="0"/>
              <a:t>ALTER INDEX REBUILD </a:t>
            </a:r>
            <a:r>
              <a:rPr lang="ro-RO" dirty="0"/>
              <a:t>(indexul va fi șters și recreat) sau pur și simplu </a:t>
            </a:r>
            <a:r>
              <a:rPr lang="en-US" dirty="0"/>
              <a:t>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ro-RO" dirty="0"/>
              <a:t>șterge și </a:t>
            </a:r>
            <a:r>
              <a:rPr lang="ro-RO" dirty="0" err="1"/>
              <a:t>cre</a:t>
            </a:r>
            <a:r>
              <a:rPr lang="en-US" dirty="0"/>
              <a:t>a din </a:t>
            </a:r>
            <a:r>
              <a:rPr lang="en-US" dirty="0" err="1"/>
              <a:t>nou</a:t>
            </a:r>
            <a:r>
              <a:rPr lang="ro-RO" dirty="0"/>
              <a:t> indexul</a:t>
            </a:r>
          </a:p>
          <a:p>
            <a:pPr lvl="1"/>
            <a:r>
              <a:rPr lang="ro-RO" dirty="0"/>
              <a:t>Se poate elimina și crea din nou indexul </a:t>
            </a:r>
            <a:r>
              <a:rPr lang="ro-RO" dirty="0" err="1"/>
              <a:t>clustered</a:t>
            </a:r>
            <a:r>
              <a:rPr lang="ro-RO" dirty="0"/>
              <a:t> (în cazul în care indexul </a:t>
            </a:r>
            <a:r>
              <a:rPr lang="ro-RO" dirty="0" err="1"/>
              <a:t>clustered</a:t>
            </a:r>
            <a:r>
              <a:rPr lang="ro-RO" dirty="0"/>
              <a:t> este creat din nou, datele vor fi redistribuite în pagini pline</a:t>
            </a:r>
            <a:r>
              <a:rPr lang="en-US" dirty="0"/>
              <a:t>)</a:t>
            </a:r>
            <a:r>
              <a:rPr lang="ro-R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68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0ADC-A873-4729-BEB1-459B293D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Fragmentare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D020C-533C-47A5-8F91-332E05ABB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2252" y="1426345"/>
            <a:ext cx="10080964" cy="4681491"/>
          </a:xfrm>
        </p:spPr>
        <p:txBody>
          <a:bodyPr>
            <a:normAutofit/>
          </a:bodyPr>
          <a:lstStyle/>
          <a:p>
            <a:r>
              <a:rPr lang="ro-RO" dirty="0"/>
              <a:t>Nivelul de umplere a unei pagini poate fi specificat la crearea indexului folosind opțiunea </a:t>
            </a:r>
            <a:r>
              <a:rPr lang="ro-RO" b="1" dirty="0"/>
              <a:t>FILLFACTOR</a:t>
            </a:r>
          </a:p>
          <a:p>
            <a:r>
              <a:rPr lang="en-US" dirty="0"/>
              <a:t>C</a:t>
            </a:r>
            <a:r>
              <a:rPr lang="ro-RO" dirty="0"/>
              <a:t>ând un index este creat sau recreat, valoarea specificată cu ajutorul opțiunii </a:t>
            </a:r>
            <a:r>
              <a:rPr lang="ro-RO" b="1" dirty="0"/>
              <a:t>FILLFACTOR</a:t>
            </a:r>
            <a:r>
              <a:rPr lang="ro-RO" dirty="0"/>
              <a:t> determină procentul de spațiu care trebuie umplut cu date pentru fiecare pagină de date </a:t>
            </a:r>
            <a:r>
              <a:rPr lang="en-US" dirty="0"/>
              <a:t>din index </a:t>
            </a:r>
            <a:r>
              <a:rPr lang="ro-RO" dirty="0"/>
              <a:t>de la nivelul nodurilor terminale, rezervând restul spațiului de pe pagină pentru adăugări ulterioare</a:t>
            </a:r>
          </a:p>
          <a:p>
            <a:r>
              <a:rPr lang="ro-RO" dirty="0"/>
              <a:t>De exemplu, dacă se specifică o valoare de 80 pentru opțiunea </a:t>
            </a:r>
            <a:r>
              <a:rPr lang="ro-RO" b="1" dirty="0"/>
              <a:t>FILLFACTOR</a:t>
            </a:r>
            <a:r>
              <a:rPr lang="ro-RO" dirty="0"/>
              <a:t>, 20% din spațiul de pe fiecare pagină din index de la nivelul nodurilor terminale va fi lăsat </a:t>
            </a:r>
            <a:r>
              <a:rPr lang="en-US" dirty="0"/>
              <a:t>liber</a:t>
            </a:r>
            <a:r>
              <a:rPr lang="ro-RO" dirty="0"/>
              <a:t>, oferind spațiu pentru extinderea indexului pe măsură ce date noi sunt adăugate în tabel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76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4722-EAC1-456E-A653-0D237C22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Fragmentare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B31CF-97A0-40A0-9D3A-ED7C630E7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741" y="1353312"/>
            <a:ext cx="10285150" cy="4683504"/>
          </a:xfrm>
        </p:spPr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creare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index </a:t>
            </a:r>
            <a:r>
              <a:rPr lang="ro-RO" dirty="0"/>
              <a:t>cu</a:t>
            </a:r>
            <a:r>
              <a:rPr lang="en-US" dirty="0"/>
              <a:t> op</a:t>
            </a:r>
            <a:r>
              <a:rPr lang="ro-RO" dirty="0"/>
              <a:t>țiunea </a:t>
            </a:r>
            <a:r>
              <a:rPr lang="ro-RO" b="1" dirty="0"/>
              <a:t>FILLFACTOR </a:t>
            </a:r>
            <a:r>
              <a:rPr lang="ro-RO" dirty="0"/>
              <a:t>specificată: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dirty="0">
                <a:latin typeface="Consolas" panose="020B0609020204030204" pitchFamily="49" charset="0"/>
              </a:rPr>
              <a:t>CREATE INDEX </a:t>
            </a:r>
            <a:r>
              <a:rPr lang="en-US" dirty="0" err="1">
                <a:latin typeface="Consolas" panose="020B0609020204030204" pitchFamily="49" charset="0"/>
              </a:rPr>
              <a:t>IX_Haine_nume_ASC_pre</a:t>
            </a:r>
            <a:r>
              <a:rPr lang="ro-RO" dirty="0">
                <a:latin typeface="Consolas" panose="020B0609020204030204" pitchFamily="49" charset="0"/>
              </a:rPr>
              <a:t>ț</a:t>
            </a:r>
            <a:r>
              <a:rPr lang="en-US" dirty="0">
                <a:latin typeface="Consolas" panose="020B0609020204030204" pitchFamily="49" charset="0"/>
              </a:rPr>
              <a:t>_DESC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ON </a:t>
            </a:r>
            <a:r>
              <a:rPr lang="en-US" dirty="0" err="1">
                <a:latin typeface="Consolas" panose="020B0609020204030204" pitchFamily="49" charset="0"/>
              </a:rPr>
              <a:t>Haine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nume</a:t>
            </a:r>
            <a:r>
              <a:rPr lang="en-US" dirty="0">
                <a:latin typeface="Consolas" panose="020B0609020204030204" pitchFamily="49" charset="0"/>
              </a:rPr>
              <a:t> ASC, pre</a:t>
            </a:r>
            <a:r>
              <a:rPr lang="ro-RO" dirty="0">
                <a:latin typeface="Consolas" panose="020B0609020204030204" pitchFamily="49" charset="0"/>
              </a:rPr>
              <a:t>ț</a:t>
            </a:r>
            <a:r>
              <a:rPr lang="en-US" dirty="0">
                <a:latin typeface="Consolas" panose="020B0609020204030204" pitchFamily="49" charset="0"/>
              </a:rPr>
              <a:t> DESC)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WITH (FILLFACTOR=80);</a:t>
            </a:r>
            <a:endParaRPr lang="ro-RO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reactivare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index </a:t>
            </a:r>
            <a:r>
              <a:rPr lang="en-US" dirty="0" err="1"/>
              <a:t>dezactivat</a:t>
            </a:r>
            <a:r>
              <a:rPr lang="en-US" dirty="0"/>
              <a:t> cu op</a:t>
            </a:r>
            <a:r>
              <a:rPr lang="ro-RO" dirty="0"/>
              <a:t>țiunea </a:t>
            </a:r>
            <a:r>
              <a:rPr lang="ro-RO" b="1" dirty="0"/>
              <a:t>FILLFACTOR</a:t>
            </a:r>
            <a:r>
              <a:rPr lang="ro-RO" dirty="0"/>
              <a:t> specificată: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ro-RO" dirty="0">
                <a:latin typeface="Consolas" panose="020B0609020204030204" pitchFamily="49" charset="0"/>
              </a:rPr>
              <a:t>ALTER</a:t>
            </a:r>
            <a:r>
              <a:rPr lang="en-US" dirty="0">
                <a:latin typeface="Consolas" panose="020B0609020204030204" pitchFamily="49" charset="0"/>
              </a:rPr>
              <a:t> INDEX </a:t>
            </a:r>
            <a:r>
              <a:rPr lang="en-US" dirty="0" err="1">
                <a:latin typeface="Consolas" panose="020B0609020204030204" pitchFamily="49" charset="0"/>
              </a:rPr>
              <a:t>IX_Haine</a:t>
            </a:r>
            <a:r>
              <a:rPr lang="en-US" dirty="0">
                <a:latin typeface="Consolas" panose="020B0609020204030204" pitchFamily="49" charset="0"/>
              </a:rPr>
              <a:t>_</a:t>
            </a:r>
            <a:r>
              <a:rPr lang="ro-RO" dirty="0">
                <a:latin typeface="Consolas" panose="020B0609020204030204" pitchFamily="49" charset="0"/>
              </a:rPr>
              <a:t>preț</a:t>
            </a:r>
            <a:r>
              <a:rPr lang="en-US" dirty="0">
                <a:latin typeface="Consolas" panose="020B0609020204030204" pitchFamily="49" charset="0"/>
              </a:rPr>
              <a:t>_ASC ON </a:t>
            </a:r>
            <a:r>
              <a:rPr lang="en-US" dirty="0" err="1">
                <a:latin typeface="Consolas" panose="020B0609020204030204" pitchFamily="49" charset="0"/>
              </a:rPr>
              <a:t>Haine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REBUILD</a:t>
            </a:r>
            <a:r>
              <a:rPr lang="en-US" dirty="0">
                <a:latin typeface="Consolas" panose="020B0609020204030204" pitchFamily="49" charset="0"/>
              </a:rPr>
              <a:t> WITH (FILLFACTOR=</a:t>
            </a:r>
            <a:r>
              <a:rPr lang="ro-RO" dirty="0">
                <a:latin typeface="Consolas" panose="020B0609020204030204" pitchFamily="49" charset="0"/>
              </a:rPr>
              <a:t>7</a:t>
            </a:r>
            <a:r>
              <a:rPr lang="en-US" dirty="0">
                <a:latin typeface="Consolas" panose="020B0609020204030204" pitchFamily="49" charset="0"/>
              </a:rPr>
              <a:t>0);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69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E390F-E724-8CB5-C29C-88D1A3D0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Exerciții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03206-37A5-3141-9BE3-E2E89D45D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7"/>
            <a:ext cx="10527607" cy="4892687"/>
          </a:xfrm>
        </p:spPr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ro-RO" dirty="0"/>
              <a:t>Pentru baza de date creată în seminarul 2, care stochează informații despre parcul de distracții, scrieți 5 interogări care folosesc expresii CASE.</a:t>
            </a:r>
          </a:p>
          <a:p>
            <a:pPr marL="502920" indent="-457200">
              <a:buFont typeface="+mj-lt"/>
              <a:buAutoNum type="arabicPeriod"/>
            </a:pPr>
            <a:r>
              <a:rPr lang="ro-RO" dirty="0"/>
              <a:t>Pentru baza de date creată în prima temă de laborator:</a:t>
            </a:r>
          </a:p>
          <a:p>
            <a:pPr marL="777240" lvl="1" indent="-457200">
              <a:buFont typeface="+mj-lt"/>
              <a:buAutoNum type="alphaLcParenR"/>
            </a:pPr>
            <a:r>
              <a:rPr lang="ro-RO" dirty="0"/>
              <a:t>Creați un view indexat. </a:t>
            </a:r>
          </a:p>
          <a:p>
            <a:pPr marL="777240" lvl="1" indent="-457200">
              <a:buFont typeface="+mj-lt"/>
              <a:buAutoNum type="alphaLcParenR"/>
            </a:pPr>
            <a:r>
              <a:rPr lang="ro-RO" dirty="0"/>
              <a:t>Scrieți 4 interogări care folosesc expresii CASE. </a:t>
            </a:r>
          </a:p>
          <a:p>
            <a:pPr marL="777240" lvl="1" indent="-457200">
              <a:buFont typeface="+mj-lt"/>
              <a:buAutoNum type="alphaLcParenR"/>
            </a:pPr>
            <a:r>
              <a:rPr lang="ro-RO" dirty="0"/>
              <a:t>Scrieți două operații de actualizare care folosesc expresii CASE.</a:t>
            </a:r>
          </a:p>
          <a:p>
            <a:pPr marL="777240" lvl="1" indent="-457200">
              <a:buFont typeface="+mj-lt"/>
              <a:buAutoNum type="alphaLcParenR"/>
            </a:pPr>
            <a:r>
              <a:rPr lang="ro-RO" dirty="0"/>
              <a:t>Scrieți 2 </a:t>
            </a:r>
            <a:r>
              <a:rPr lang="ro-RO"/>
              <a:t>interogări a căror execuție </a:t>
            </a:r>
            <a:r>
              <a:rPr lang="ro-RO" dirty="0"/>
              <a:t>ar </a:t>
            </a:r>
            <a:r>
              <a:rPr lang="ro-RO"/>
              <a:t>putea fi optimizată cu ajutorul unui </a:t>
            </a:r>
            <a:r>
              <a:rPr lang="ro-RO" dirty="0"/>
              <a:t>index columnstore. Creați indexul columnstore corespunzător și verificați dacă acesta apare în planul de execuție al celor două interogări. </a:t>
            </a:r>
          </a:p>
        </p:txBody>
      </p:sp>
    </p:spTree>
    <p:extLst>
      <p:ext uri="{BB962C8B-B14F-4D97-AF65-F5344CB8AC3E}">
        <p14:creationId xmlns:p14="http://schemas.microsoft.com/office/powerpoint/2010/main" val="215320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BC90-A64C-5AF2-86F3-85CA08B8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Bibliografie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82750-92B8-646A-E155-464FE7667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8"/>
            <a:ext cx="10767753" cy="4925686"/>
          </a:xfrm>
        </p:spPr>
        <p:txBody>
          <a:bodyPr>
            <a:normAutofit lnSpcReduction="10000"/>
          </a:bodyPr>
          <a:lstStyle/>
          <a:p>
            <a:r>
              <a:rPr lang="ro-RO" dirty="0">
                <a:hlinkClick r:id="rId2"/>
              </a:rPr>
              <a:t>https://learn.microsoft.com/en-us/sql/relational-databases/pages-and-extents-architecture-guide?view=sql-server-ver16</a:t>
            </a:r>
            <a:endParaRPr lang="ro-RO" dirty="0"/>
          </a:p>
          <a:p>
            <a:r>
              <a:rPr lang="ro-RO" dirty="0">
                <a:hlinkClick r:id="rId3"/>
              </a:rPr>
              <a:t>https://learn.microsoft.com/en-us/sql/relational-databases/indexes/columnstore-indexes-overview?view=sql-server-ver16</a:t>
            </a:r>
            <a:endParaRPr lang="ro-RO" dirty="0"/>
          </a:p>
          <a:p>
            <a:r>
              <a:rPr lang="ro-RO" dirty="0">
                <a:hlinkClick r:id="rId4"/>
              </a:rPr>
              <a:t>https://learn.microsoft.com/en-us/sql/t-sql/language-elements/case-transact-sql?view=sql-server-ver16</a:t>
            </a:r>
            <a:endParaRPr lang="ro-RO" dirty="0"/>
          </a:p>
          <a:p>
            <a:r>
              <a:rPr lang="ro-RO" dirty="0">
                <a:hlinkClick r:id="rId5"/>
              </a:rPr>
              <a:t>https://learn.microsoft.com/en-us/sql/relational-databases/views/create-indexed-views?view=sql-server-ver16</a:t>
            </a:r>
            <a:endParaRPr lang="ro-RO" dirty="0"/>
          </a:p>
          <a:p>
            <a:r>
              <a:rPr lang="ro-RO" dirty="0">
                <a:hlinkClick r:id="rId6"/>
              </a:rPr>
              <a:t>https://learn.microsoft.com/en-us/sql/relational-databases/views/views?view=sql-server-ver16</a:t>
            </a:r>
            <a:endParaRPr lang="ro-RO" dirty="0"/>
          </a:p>
          <a:p>
            <a:r>
              <a:rPr lang="ro-RO" dirty="0">
                <a:hlinkClick r:id="rId7"/>
              </a:rPr>
              <a:t>https://learn.microsoft.com/en-us/sql/relational-databases/indexes/columnstore-indexes-design-guidance?view=sql-server-ver16</a:t>
            </a:r>
            <a:r>
              <a:rPr lang="ro-RO" dirty="0"/>
              <a:t> </a:t>
            </a:r>
          </a:p>
          <a:p>
            <a:r>
              <a:rPr lang="ro-RO" dirty="0">
                <a:hlinkClick r:id="rId8"/>
              </a:rPr>
              <a:t>https://learn.microsoft.com/en-us/sql/relational-databases/indexes/ordered-columnstore-indexes?view=sql-server-ver17</a:t>
            </a:r>
            <a:r>
              <a:rPr lang="ro-RO" dirty="0"/>
              <a:t> 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60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 16x9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757_TF02895256" id="{3618AF2C-E955-4D87-AA77-A632EB049885}" vid="{2F1D0CFD-78FA-41B2-9059-A58E1373FFEB}"/>
    </a:ext>
  </a:extLst>
</a:theme>
</file>

<file path=ppt/theme/theme2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5E4EDB042A764384A34028A2E2DA7F" ma:contentTypeVersion="3" ma:contentTypeDescription="Create a new document." ma:contentTypeScope="" ma:versionID="edc139cabba7862d46ff48aa38d01be7">
  <xsd:schema xmlns:xsd="http://www.w3.org/2001/XMLSchema" xmlns:xs="http://www.w3.org/2001/XMLSchema" xmlns:p="http://schemas.microsoft.com/office/2006/metadata/properties" xmlns:ns2="95d722e6-2abf-4e76-817e-b7542abcddf5" targetNamespace="http://schemas.microsoft.com/office/2006/metadata/properties" ma:root="true" ma:fieldsID="7fce9730d8ca2c4448e5448727f34ccc" ns2:_="">
    <xsd:import namespace="95d722e6-2abf-4e76-817e-b7542abcdd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722e6-2abf-4e76-817e-b7542abcdd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DDCDB1-81A1-4A57-81E4-3D3F9809BFC5}"/>
</file>

<file path=customXml/itemProps2.xml><?xml version="1.0" encoding="utf-8"?>
<ds:datastoreItem xmlns:ds="http://schemas.openxmlformats.org/officeDocument/2006/customXml" ds:itemID="{6549D26B-FBF2-4AE3-B67E-E31165BC6950}"/>
</file>

<file path=customXml/itemProps3.xml><?xml version="1.0" encoding="utf-8"?>
<ds:datastoreItem xmlns:ds="http://schemas.openxmlformats.org/officeDocument/2006/customXml" ds:itemID="{9BECE40A-ADFF-4C82-98BB-754FB3CF31B6}"/>
</file>

<file path=docProps/app.xml><?xml version="1.0" encoding="utf-8"?>
<Properties xmlns="http://schemas.openxmlformats.org/officeDocument/2006/extended-properties" xmlns:vt="http://schemas.openxmlformats.org/officeDocument/2006/docPropsVTypes">
  <Template>Prezentare cu pictură Ocean (ecran lat)</Template>
  <TotalTime>709</TotalTime>
  <Words>2720</Words>
  <Application>Microsoft Office PowerPoint</Application>
  <PresentationFormat>Widescreen</PresentationFormat>
  <Paragraphs>373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Consolas</vt:lpstr>
      <vt:lpstr>Georgia</vt:lpstr>
      <vt:lpstr>Ocean 16x9</vt:lpstr>
      <vt:lpstr>View-uri indexate.  Indecși Columnstore. Fragmentare</vt:lpstr>
      <vt:lpstr>View-uri indexate</vt:lpstr>
      <vt:lpstr>View-uri indexate</vt:lpstr>
      <vt:lpstr>View-uri indexate</vt:lpstr>
      <vt:lpstr>View-uri indexate</vt:lpstr>
      <vt:lpstr>View-uri indexate</vt:lpstr>
      <vt:lpstr>View-uri indexate</vt:lpstr>
      <vt:lpstr>View-uri indexate – Restricții</vt:lpstr>
      <vt:lpstr>CASE</vt:lpstr>
      <vt:lpstr>CASE</vt:lpstr>
      <vt:lpstr>CASE</vt:lpstr>
      <vt:lpstr>CASE</vt:lpstr>
      <vt:lpstr>CASE</vt:lpstr>
      <vt:lpstr>CASE</vt:lpstr>
      <vt:lpstr>CASE</vt:lpstr>
      <vt:lpstr>CASE</vt:lpstr>
      <vt:lpstr>Indecși Columnstore</vt:lpstr>
      <vt:lpstr>Indecși Columnstore</vt:lpstr>
      <vt:lpstr>Indecși Columnstore</vt:lpstr>
      <vt:lpstr>Indecși Columnstore</vt:lpstr>
      <vt:lpstr>Indecși Columnstore</vt:lpstr>
      <vt:lpstr>Fragmentare</vt:lpstr>
      <vt:lpstr>Fragmentare</vt:lpstr>
      <vt:lpstr>Fragmentare</vt:lpstr>
      <vt:lpstr>Fragmentare</vt:lpstr>
      <vt:lpstr>Fragmentare</vt:lpstr>
      <vt:lpstr>Fragmentare</vt:lpstr>
      <vt:lpstr>Fragmentare</vt:lpstr>
      <vt:lpstr>Fragmentare</vt:lpstr>
      <vt:lpstr>Exerciții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View-uri indexate.  Indecși Columnstore. Fragmentare</dc:title>
  <dc:creator>Camelia Andor</dc:creator>
  <cp:lastModifiedBy>Camelia - Florina Andor</cp:lastModifiedBy>
  <cp:revision>59</cp:revision>
  <dcterms:created xsi:type="dcterms:W3CDTF">2024-01-05T22:45:11Z</dcterms:created>
  <dcterms:modified xsi:type="dcterms:W3CDTF">2026-01-12T23:44:51Z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0x010100C85E4EDB042A764384A34028A2E2DA7F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